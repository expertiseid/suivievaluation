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38" r:id="rId1"/>
    <p:sldMasterId id="2147483955" r:id="rId2"/>
  </p:sldMasterIdLst>
  <p:notesMasterIdLst>
    <p:notesMasterId r:id="rId55"/>
  </p:notesMasterIdLst>
  <p:sldIdLst>
    <p:sldId id="256" r:id="rId3"/>
    <p:sldId id="259" r:id="rId4"/>
    <p:sldId id="263" r:id="rId5"/>
    <p:sldId id="360" r:id="rId6"/>
    <p:sldId id="359" r:id="rId7"/>
    <p:sldId id="307" r:id="rId8"/>
    <p:sldId id="375" r:id="rId9"/>
    <p:sldId id="310" r:id="rId10"/>
    <p:sldId id="362" r:id="rId11"/>
    <p:sldId id="308" r:id="rId12"/>
    <p:sldId id="309" r:id="rId13"/>
    <p:sldId id="311" r:id="rId14"/>
    <p:sldId id="312" r:id="rId15"/>
    <p:sldId id="318" r:id="rId16"/>
    <p:sldId id="313" r:id="rId17"/>
    <p:sldId id="319" r:id="rId18"/>
    <p:sldId id="335" r:id="rId19"/>
    <p:sldId id="336" r:id="rId20"/>
    <p:sldId id="337" r:id="rId21"/>
    <p:sldId id="338" r:id="rId22"/>
    <p:sldId id="339" r:id="rId23"/>
    <p:sldId id="340" r:id="rId24"/>
    <p:sldId id="341" r:id="rId25"/>
    <p:sldId id="345" r:id="rId26"/>
    <p:sldId id="346" r:id="rId27"/>
    <p:sldId id="342" r:id="rId28"/>
    <p:sldId id="343" r:id="rId29"/>
    <p:sldId id="332" r:id="rId30"/>
    <p:sldId id="331" r:id="rId31"/>
    <p:sldId id="344" r:id="rId32"/>
    <p:sldId id="315" r:id="rId33"/>
    <p:sldId id="347" r:id="rId34"/>
    <p:sldId id="348" r:id="rId35"/>
    <p:sldId id="350" r:id="rId36"/>
    <p:sldId id="351" r:id="rId37"/>
    <p:sldId id="352" r:id="rId38"/>
    <p:sldId id="353" r:id="rId39"/>
    <p:sldId id="354" r:id="rId40"/>
    <p:sldId id="355" r:id="rId41"/>
    <p:sldId id="356" r:id="rId42"/>
    <p:sldId id="357" r:id="rId43"/>
    <p:sldId id="358" r:id="rId44"/>
    <p:sldId id="364" r:id="rId45"/>
    <p:sldId id="361" r:id="rId46"/>
    <p:sldId id="366" r:id="rId47"/>
    <p:sldId id="367" r:id="rId48"/>
    <p:sldId id="368" r:id="rId49"/>
    <p:sldId id="369" r:id="rId50"/>
    <p:sldId id="370" r:id="rId51"/>
    <p:sldId id="372" r:id="rId52"/>
    <p:sldId id="374" r:id="rId53"/>
    <p:sldId id="278" r:id="rId5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93"/>
    <p:restoredTop sz="94663"/>
  </p:normalViewPr>
  <p:slideViewPr>
    <p:cSldViewPr snapToGrid="0" snapToObjects="1">
      <p:cViewPr>
        <p:scale>
          <a:sx n="140" d="100"/>
          <a:sy n="140" d="100"/>
        </p:scale>
        <p:origin x="56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A0B35F-9F25-E143-AB54-E2F6FFF2DCAF}" type="datetimeFigureOut">
              <a:rPr lang="en-GH" smtClean="0"/>
              <a:t>14/06/2021</a:t>
            </a:fld>
            <a:endParaRPr lang="en-GH"/>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5C92FB-FAD2-9548-8EEC-ACCA687BFF4B}" type="slidenum">
              <a:rPr lang="en-GH" smtClean="0"/>
              <a:t>‹#›</a:t>
            </a:fld>
            <a:endParaRPr lang="en-GH"/>
          </a:p>
        </p:txBody>
      </p:sp>
    </p:spTree>
    <p:extLst>
      <p:ext uri="{BB962C8B-B14F-4D97-AF65-F5344CB8AC3E}">
        <p14:creationId xmlns:p14="http://schemas.microsoft.com/office/powerpoint/2010/main" val="7664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H" dirty="0"/>
              <a:t>Discuter de l’hebergement - Discuter de l’accés direct - </a:t>
            </a:r>
          </a:p>
        </p:txBody>
      </p:sp>
      <p:sp>
        <p:nvSpPr>
          <p:cNvPr id="4" name="Slide Number Placeholder 3"/>
          <p:cNvSpPr>
            <a:spLocks noGrp="1"/>
          </p:cNvSpPr>
          <p:nvPr>
            <p:ph type="sldNum" sz="quarter" idx="5"/>
          </p:nvPr>
        </p:nvSpPr>
        <p:spPr/>
        <p:txBody>
          <a:bodyPr/>
          <a:lstStyle/>
          <a:p>
            <a:fld id="{D65C92FB-FAD2-9548-8EEC-ACCA687BFF4B}" type="slidenum">
              <a:rPr lang="en-GH" smtClean="0"/>
              <a:t>6</a:t>
            </a:fld>
            <a:endParaRPr lang="en-GH"/>
          </a:p>
        </p:txBody>
      </p:sp>
    </p:spTree>
    <p:extLst>
      <p:ext uri="{BB962C8B-B14F-4D97-AF65-F5344CB8AC3E}">
        <p14:creationId xmlns:p14="http://schemas.microsoft.com/office/powerpoint/2010/main" val="3149292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H" dirty="0"/>
              <a:t>Discuter de l’hebergement - Discuter de l’accés direct - </a:t>
            </a:r>
          </a:p>
        </p:txBody>
      </p:sp>
      <p:sp>
        <p:nvSpPr>
          <p:cNvPr id="4" name="Slide Number Placeholder 3"/>
          <p:cNvSpPr>
            <a:spLocks noGrp="1"/>
          </p:cNvSpPr>
          <p:nvPr>
            <p:ph type="sldNum" sz="quarter" idx="5"/>
          </p:nvPr>
        </p:nvSpPr>
        <p:spPr/>
        <p:txBody>
          <a:bodyPr/>
          <a:lstStyle/>
          <a:p>
            <a:fld id="{D65C92FB-FAD2-9548-8EEC-ACCA687BFF4B}" type="slidenum">
              <a:rPr lang="en-GH" smtClean="0"/>
              <a:t>7</a:t>
            </a:fld>
            <a:endParaRPr lang="en-GH"/>
          </a:p>
        </p:txBody>
      </p:sp>
    </p:spTree>
    <p:extLst>
      <p:ext uri="{BB962C8B-B14F-4D97-AF65-F5344CB8AC3E}">
        <p14:creationId xmlns:p14="http://schemas.microsoft.com/office/powerpoint/2010/main" val="42407347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H" dirty="0"/>
              <a:t>Supprimer des indicateurs Activité risquée: On pert toutes les données enregistrées et pour tous les projets et pour toutes les années</a:t>
            </a:r>
          </a:p>
        </p:txBody>
      </p:sp>
      <p:sp>
        <p:nvSpPr>
          <p:cNvPr id="4" name="Slide Number Placeholder 3"/>
          <p:cNvSpPr>
            <a:spLocks noGrp="1"/>
          </p:cNvSpPr>
          <p:nvPr>
            <p:ph type="sldNum" sz="quarter" idx="5"/>
          </p:nvPr>
        </p:nvSpPr>
        <p:spPr/>
        <p:txBody>
          <a:bodyPr/>
          <a:lstStyle/>
          <a:p>
            <a:fld id="{D65C92FB-FAD2-9548-8EEC-ACCA687BFF4B}" type="slidenum">
              <a:rPr lang="en-GH" smtClean="0"/>
              <a:t>12</a:t>
            </a:fld>
            <a:endParaRPr lang="en-GH"/>
          </a:p>
        </p:txBody>
      </p:sp>
    </p:spTree>
    <p:extLst>
      <p:ext uri="{BB962C8B-B14F-4D97-AF65-F5344CB8AC3E}">
        <p14:creationId xmlns:p14="http://schemas.microsoft.com/office/powerpoint/2010/main" val="3277439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H" dirty="0"/>
              <a:t>Noter Documents de Oxfam, Documents du Programme et Documents du Projet</a:t>
            </a:r>
          </a:p>
        </p:txBody>
      </p:sp>
      <p:sp>
        <p:nvSpPr>
          <p:cNvPr id="4" name="Slide Number Placeholder 3"/>
          <p:cNvSpPr>
            <a:spLocks noGrp="1"/>
          </p:cNvSpPr>
          <p:nvPr>
            <p:ph type="sldNum" sz="quarter" idx="5"/>
          </p:nvPr>
        </p:nvSpPr>
        <p:spPr/>
        <p:txBody>
          <a:bodyPr/>
          <a:lstStyle/>
          <a:p>
            <a:fld id="{D65C92FB-FAD2-9548-8EEC-ACCA687BFF4B}" type="slidenum">
              <a:rPr lang="en-GH" smtClean="0"/>
              <a:t>15</a:t>
            </a:fld>
            <a:endParaRPr lang="en-GH"/>
          </a:p>
        </p:txBody>
      </p:sp>
    </p:spTree>
    <p:extLst>
      <p:ext uri="{BB962C8B-B14F-4D97-AF65-F5344CB8AC3E}">
        <p14:creationId xmlns:p14="http://schemas.microsoft.com/office/powerpoint/2010/main" val="2289073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02BE8D4F-2723-0F4B-88BB-524A84136819}" type="datetimeFigureOut">
              <a:rPr lang="en-GH" smtClean="0"/>
              <a:t>14/06/2021</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C0F91E22-6E4C-3B41-BC57-4C8C9BB39545}" type="slidenum">
              <a:rPr lang="en-GH" smtClean="0"/>
              <a:t>‹#›</a:t>
            </a:fld>
            <a:endParaRPr lang="en-GH"/>
          </a:p>
        </p:txBody>
      </p:sp>
    </p:spTree>
    <p:extLst>
      <p:ext uri="{BB962C8B-B14F-4D97-AF65-F5344CB8AC3E}">
        <p14:creationId xmlns:p14="http://schemas.microsoft.com/office/powerpoint/2010/main" val="2788458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2BE8D4F-2723-0F4B-88BB-524A84136819}" type="datetimeFigureOut">
              <a:rPr lang="en-GH" smtClean="0"/>
              <a:t>14/06/2021</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C0F91E22-6E4C-3B41-BC57-4C8C9BB39545}" type="slidenum">
              <a:rPr lang="en-GH" smtClean="0"/>
              <a:t>‹#›</a:t>
            </a:fld>
            <a:endParaRPr lang="en-GH"/>
          </a:p>
        </p:txBody>
      </p:sp>
    </p:spTree>
    <p:extLst>
      <p:ext uri="{BB962C8B-B14F-4D97-AF65-F5344CB8AC3E}">
        <p14:creationId xmlns:p14="http://schemas.microsoft.com/office/powerpoint/2010/main" val="2831657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2BE8D4F-2723-0F4B-88BB-524A84136819}" type="datetimeFigureOut">
              <a:rPr lang="en-GH" smtClean="0"/>
              <a:t>14/06/2021</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C0F91E22-6E4C-3B41-BC57-4C8C9BB39545}" type="slidenum">
              <a:rPr lang="en-GH" smtClean="0"/>
              <a:t>‹#›</a:t>
            </a:fld>
            <a:endParaRPr lang="en-GH"/>
          </a:p>
        </p:txBody>
      </p:sp>
    </p:spTree>
    <p:extLst>
      <p:ext uri="{BB962C8B-B14F-4D97-AF65-F5344CB8AC3E}">
        <p14:creationId xmlns:p14="http://schemas.microsoft.com/office/powerpoint/2010/main" val="2299935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GB"/>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02BE8D4F-2723-0F4B-88BB-524A84136819}" type="datetimeFigureOut">
              <a:rPr lang="en-GH" smtClean="0"/>
              <a:t>14/06/2021</a:t>
            </a:fld>
            <a:endParaRPr lang="en-GH"/>
          </a:p>
        </p:txBody>
      </p:sp>
      <p:sp>
        <p:nvSpPr>
          <p:cNvPr id="6" name="Footer Placeholder 5"/>
          <p:cNvSpPr>
            <a:spLocks noGrp="1"/>
          </p:cNvSpPr>
          <p:nvPr>
            <p:ph type="ftr" sz="quarter" idx="11"/>
          </p:nvPr>
        </p:nvSpPr>
        <p:spPr/>
        <p:txBody>
          <a:bodyPr/>
          <a:lstStyle/>
          <a:p>
            <a:endParaRPr lang="en-GH"/>
          </a:p>
        </p:txBody>
      </p:sp>
      <p:sp>
        <p:nvSpPr>
          <p:cNvPr id="7" name="Slide Number Placeholder 6"/>
          <p:cNvSpPr>
            <a:spLocks noGrp="1"/>
          </p:cNvSpPr>
          <p:nvPr>
            <p:ph type="sldNum" sz="quarter" idx="12"/>
          </p:nvPr>
        </p:nvSpPr>
        <p:spPr/>
        <p:txBody>
          <a:bodyPr/>
          <a:lstStyle/>
          <a:p>
            <a:fld id="{C0F91E22-6E4C-3B41-BC57-4C8C9BB39545}" type="slidenum">
              <a:rPr lang="en-GH" smtClean="0"/>
              <a:t>‹#›</a:t>
            </a:fld>
            <a:endParaRPr lang="en-GH"/>
          </a:p>
        </p:txBody>
      </p:sp>
    </p:spTree>
    <p:extLst>
      <p:ext uri="{BB962C8B-B14F-4D97-AF65-F5344CB8AC3E}">
        <p14:creationId xmlns:p14="http://schemas.microsoft.com/office/powerpoint/2010/main" val="693553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02BE8D4F-2723-0F4B-88BB-524A84136819}" type="datetimeFigureOut">
              <a:rPr lang="en-GH" smtClean="0"/>
              <a:t>14/06/2021</a:t>
            </a:fld>
            <a:endParaRPr lang="en-GH"/>
          </a:p>
        </p:txBody>
      </p:sp>
      <p:sp>
        <p:nvSpPr>
          <p:cNvPr id="8" name="Footer Placeholder 7"/>
          <p:cNvSpPr>
            <a:spLocks noGrp="1"/>
          </p:cNvSpPr>
          <p:nvPr>
            <p:ph type="ftr" sz="quarter" idx="11"/>
          </p:nvPr>
        </p:nvSpPr>
        <p:spPr/>
        <p:txBody>
          <a:bodyPr/>
          <a:lstStyle/>
          <a:p>
            <a:endParaRPr lang="en-GH"/>
          </a:p>
        </p:txBody>
      </p:sp>
      <p:sp>
        <p:nvSpPr>
          <p:cNvPr id="9" name="Slide Number Placeholder 8"/>
          <p:cNvSpPr>
            <a:spLocks noGrp="1"/>
          </p:cNvSpPr>
          <p:nvPr>
            <p:ph type="sldNum" sz="quarter" idx="12"/>
          </p:nvPr>
        </p:nvSpPr>
        <p:spPr/>
        <p:txBody>
          <a:bodyPr/>
          <a:lstStyle/>
          <a:p>
            <a:fld id="{C0F91E22-6E4C-3B41-BC57-4C8C9BB39545}" type="slidenum">
              <a:rPr lang="en-GH" smtClean="0"/>
              <a:t>‹#›</a:t>
            </a:fld>
            <a:endParaRPr lang="en-GH"/>
          </a:p>
        </p:txBody>
      </p:sp>
    </p:spTree>
    <p:extLst>
      <p:ext uri="{BB962C8B-B14F-4D97-AF65-F5344CB8AC3E}">
        <p14:creationId xmlns:p14="http://schemas.microsoft.com/office/powerpoint/2010/main" val="115215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02BE8D4F-2723-0F4B-88BB-524A84136819}" type="datetimeFigureOut">
              <a:rPr lang="en-GH" smtClean="0"/>
              <a:t>14/06/2021</a:t>
            </a:fld>
            <a:endParaRPr lang="en-GH"/>
          </a:p>
        </p:txBody>
      </p:sp>
      <p:sp>
        <p:nvSpPr>
          <p:cNvPr id="4" name="Footer Placeholder 3"/>
          <p:cNvSpPr>
            <a:spLocks noGrp="1"/>
          </p:cNvSpPr>
          <p:nvPr>
            <p:ph type="ftr" sz="quarter" idx="11"/>
          </p:nvPr>
        </p:nvSpPr>
        <p:spPr/>
        <p:txBody>
          <a:bodyPr/>
          <a:lstStyle/>
          <a:p>
            <a:endParaRPr lang="en-GH"/>
          </a:p>
        </p:txBody>
      </p:sp>
      <p:sp>
        <p:nvSpPr>
          <p:cNvPr id="5" name="Slide Number Placeholder 4"/>
          <p:cNvSpPr>
            <a:spLocks noGrp="1"/>
          </p:cNvSpPr>
          <p:nvPr>
            <p:ph type="sldNum" sz="quarter" idx="12"/>
          </p:nvPr>
        </p:nvSpPr>
        <p:spPr/>
        <p:txBody>
          <a:bodyPr/>
          <a:lstStyle/>
          <a:p>
            <a:fld id="{C0F91E22-6E4C-3B41-BC57-4C8C9BB39545}" type="slidenum">
              <a:rPr lang="en-GH" smtClean="0"/>
              <a:t>‹#›</a:t>
            </a:fld>
            <a:endParaRPr lang="en-GH"/>
          </a:p>
        </p:txBody>
      </p:sp>
    </p:spTree>
    <p:extLst>
      <p:ext uri="{BB962C8B-B14F-4D97-AF65-F5344CB8AC3E}">
        <p14:creationId xmlns:p14="http://schemas.microsoft.com/office/powerpoint/2010/main" val="1793547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BE8D4F-2723-0F4B-88BB-524A84136819}" type="datetimeFigureOut">
              <a:rPr lang="en-GH" smtClean="0"/>
              <a:t>14/06/2021</a:t>
            </a:fld>
            <a:endParaRPr lang="en-GH"/>
          </a:p>
        </p:txBody>
      </p:sp>
      <p:sp>
        <p:nvSpPr>
          <p:cNvPr id="3" name="Footer Placeholder 2"/>
          <p:cNvSpPr>
            <a:spLocks noGrp="1"/>
          </p:cNvSpPr>
          <p:nvPr>
            <p:ph type="ftr" sz="quarter" idx="11"/>
          </p:nvPr>
        </p:nvSpPr>
        <p:spPr/>
        <p:txBody>
          <a:bodyPr/>
          <a:lstStyle/>
          <a:p>
            <a:endParaRPr lang="en-GH"/>
          </a:p>
        </p:txBody>
      </p:sp>
      <p:sp>
        <p:nvSpPr>
          <p:cNvPr id="4" name="Slide Number Placeholder 3"/>
          <p:cNvSpPr>
            <a:spLocks noGrp="1"/>
          </p:cNvSpPr>
          <p:nvPr>
            <p:ph type="sldNum" sz="quarter" idx="12"/>
          </p:nvPr>
        </p:nvSpPr>
        <p:spPr/>
        <p:txBody>
          <a:bodyPr/>
          <a:lstStyle/>
          <a:p>
            <a:fld id="{C0F91E22-6E4C-3B41-BC57-4C8C9BB39545}" type="slidenum">
              <a:rPr lang="en-GH" smtClean="0"/>
              <a:t>‹#›</a:t>
            </a:fld>
            <a:endParaRPr lang="en-GH"/>
          </a:p>
        </p:txBody>
      </p:sp>
    </p:spTree>
    <p:extLst>
      <p:ext uri="{BB962C8B-B14F-4D97-AF65-F5344CB8AC3E}">
        <p14:creationId xmlns:p14="http://schemas.microsoft.com/office/powerpoint/2010/main" val="36370895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02BE8D4F-2723-0F4B-88BB-524A84136819}" type="datetimeFigureOut">
              <a:rPr lang="en-GH" smtClean="0"/>
              <a:t>14/06/2021</a:t>
            </a:fld>
            <a:endParaRPr lang="en-GH"/>
          </a:p>
        </p:txBody>
      </p:sp>
      <p:sp>
        <p:nvSpPr>
          <p:cNvPr id="6" name="Footer Placeholder 5"/>
          <p:cNvSpPr>
            <a:spLocks noGrp="1"/>
          </p:cNvSpPr>
          <p:nvPr>
            <p:ph type="ftr" sz="quarter" idx="11"/>
          </p:nvPr>
        </p:nvSpPr>
        <p:spPr/>
        <p:txBody>
          <a:bodyPr/>
          <a:lstStyle/>
          <a:p>
            <a:endParaRPr lang="en-GH"/>
          </a:p>
        </p:txBody>
      </p:sp>
      <p:sp>
        <p:nvSpPr>
          <p:cNvPr id="7" name="Slide Number Placeholder 6"/>
          <p:cNvSpPr>
            <a:spLocks noGrp="1"/>
          </p:cNvSpPr>
          <p:nvPr>
            <p:ph type="sldNum" sz="quarter" idx="12"/>
          </p:nvPr>
        </p:nvSpPr>
        <p:spPr/>
        <p:txBody>
          <a:bodyPr/>
          <a:lstStyle/>
          <a:p>
            <a:fld id="{C0F91E22-6E4C-3B41-BC57-4C8C9BB39545}" type="slidenum">
              <a:rPr lang="en-GH" smtClean="0"/>
              <a:t>‹#›</a:t>
            </a:fld>
            <a:endParaRPr lang="en-GH"/>
          </a:p>
        </p:txBody>
      </p:sp>
    </p:spTree>
    <p:extLst>
      <p:ext uri="{BB962C8B-B14F-4D97-AF65-F5344CB8AC3E}">
        <p14:creationId xmlns:p14="http://schemas.microsoft.com/office/powerpoint/2010/main" val="507240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02BE8D4F-2723-0F4B-88BB-524A84136819}" type="datetimeFigureOut">
              <a:rPr lang="en-GH" smtClean="0"/>
              <a:t>14/06/2021</a:t>
            </a:fld>
            <a:endParaRPr lang="en-GH"/>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0F91E22-6E4C-3B41-BC57-4C8C9BB39545}" type="slidenum">
              <a:rPr lang="en-GH" smtClean="0"/>
              <a:t>‹#›</a:t>
            </a:fld>
            <a:endParaRPr lang="en-GH"/>
          </a:p>
        </p:txBody>
      </p:sp>
    </p:spTree>
    <p:extLst>
      <p:ext uri="{BB962C8B-B14F-4D97-AF65-F5344CB8AC3E}">
        <p14:creationId xmlns:p14="http://schemas.microsoft.com/office/powerpoint/2010/main" val="884568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2BE8D4F-2723-0F4B-88BB-524A84136819}" type="datetimeFigureOut">
              <a:rPr lang="en-GH" smtClean="0"/>
              <a:t>14/06/2021</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C0F91E22-6E4C-3B41-BC57-4C8C9BB39545}" type="slidenum">
              <a:rPr lang="en-GH" smtClean="0"/>
              <a:t>‹#›</a:t>
            </a:fld>
            <a:endParaRPr lang="en-GH"/>
          </a:p>
        </p:txBody>
      </p:sp>
    </p:spTree>
    <p:extLst>
      <p:ext uri="{BB962C8B-B14F-4D97-AF65-F5344CB8AC3E}">
        <p14:creationId xmlns:p14="http://schemas.microsoft.com/office/powerpoint/2010/main" val="1515849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2BE8D4F-2723-0F4B-88BB-524A84136819}" type="datetimeFigureOut">
              <a:rPr lang="en-GH" smtClean="0"/>
              <a:t>14/06/2021</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C0F91E22-6E4C-3B41-BC57-4C8C9BB39545}" type="slidenum">
              <a:rPr lang="en-GH" smtClean="0"/>
              <a:t>‹#›</a:t>
            </a:fld>
            <a:endParaRPr lang="en-GH"/>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00152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2BE8D4F-2723-0F4B-88BB-524A84136819}" type="datetimeFigureOut">
              <a:rPr lang="en-GH" smtClean="0"/>
              <a:t>14/06/2021</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C0F91E22-6E4C-3B41-BC57-4C8C9BB39545}" type="slidenum">
              <a:rPr lang="en-GH" smtClean="0"/>
              <a:t>‹#›</a:t>
            </a:fld>
            <a:endParaRPr lang="en-GH"/>
          </a:p>
        </p:txBody>
      </p:sp>
    </p:spTree>
    <p:extLst>
      <p:ext uri="{BB962C8B-B14F-4D97-AF65-F5344CB8AC3E}">
        <p14:creationId xmlns:p14="http://schemas.microsoft.com/office/powerpoint/2010/main" val="37821999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2BE8D4F-2723-0F4B-88BB-524A84136819}" type="datetimeFigureOut">
              <a:rPr lang="en-GH" smtClean="0"/>
              <a:t>14/06/2021</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C0F91E22-6E4C-3B41-BC57-4C8C9BB39545}" type="slidenum">
              <a:rPr lang="en-GH" smtClean="0"/>
              <a:t>‹#›</a:t>
            </a:fld>
            <a:endParaRPr lang="en-GH"/>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978378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2BE8D4F-2723-0F4B-88BB-524A84136819}" type="datetimeFigureOut">
              <a:rPr lang="en-GH" smtClean="0"/>
              <a:t>14/06/2021</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C0F91E22-6E4C-3B41-BC57-4C8C9BB39545}" type="slidenum">
              <a:rPr lang="en-GH" smtClean="0"/>
              <a:t>‹#›</a:t>
            </a:fld>
            <a:endParaRPr lang="en-GH"/>
          </a:p>
        </p:txBody>
      </p:sp>
    </p:spTree>
    <p:extLst>
      <p:ext uri="{BB962C8B-B14F-4D97-AF65-F5344CB8AC3E}">
        <p14:creationId xmlns:p14="http://schemas.microsoft.com/office/powerpoint/2010/main" val="15845078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2BE8D4F-2723-0F4B-88BB-524A84136819}" type="datetimeFigureOut">
              <a:rPr lang="en-GH" smtClean="0"/>
              <a:t>14/06/2021</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C0F91E22-6E4C-3B41-BC57-4C8C9BB39545}" type="slidenum">
              <a:rPr lang="en-GH" smtClean="0"/>
              <a:t>‹#›</a:t>
            </a:fld>
            <a:endParaRPr lang="en-GH"/>
          </a:p>
        </p:txBody>
      </p:sp>
    </p:spTree>
    <p:extLst>
      <p:ext uri="{BB962C8B-B14F-4D97-AF65-F5344CB8AC3E}">
        <p14:creationId xmlns:p14="http://schemas.microsoft.com/office/powerpoint/2010/main" val="27800806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2BE8D4F-2723-0F4B-88BB-524A84136819}" type="datetimeFigureOut">
              <a:rPr lang="en-GH" smtClean="0"/>
              <a:t>14/06/2021</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C0F91E22-6E4C-3B41-BC57-4C8C9BB39545}" type="slidenum">
              <a:rPr lang="en-GH" smtClean="0"/>
              <a:t>‹#›</a:t>
            </a:fld>
            <a:endParaRPr lang="en-GH"/>
          </a:p>
        </p:txBody>
      </p:sp>
    </p:spTree>
    <p:extLst>
      <p:ext uri="{BB962C8B-B14F-4D97-AF65-F5344CB8AC3E}">
        <p14:creationId xmlns:p14="http://schemas.microsoft.com/office/powerpoint/2010/main" val="6237317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D01D8981-9AA4-794E-A435-61F1DDEFB08B}" type="datetimeFigureOut">
              <a:rPr lang="en-GH" smtClean="0"/>
              <a:t>14/06/2021</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6B56F304-E5F0-4F40-9608-D0F1A8D74098}" type="slidenum">
              <a:rPr lang="en-GH" smtClean="0"/>
              <a:t>‹#›</a:t>
            </a:fld>
            <a:endParaRPr lang="en-GH"/>
          </a:p>
        </p:txBody>
      </p:sp>
    </p:spTree>
    <p:extLst>
      <p:ext uri="{BB962C8B-B14F-4D97-AF65-F5344CB8AC3E}">
        <p14:creationId xmlns:p14="http://schemas.microsoft.com/office/powerpoint/2010/main" val="22150808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01D8981-9AA4-794E-A435-61F1DDEFB08B}" type="datetimeFigureOut">
              <a:rPr lang="en-GH" smtClean="0"/>
              <a:t>14/06/2021</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6B56F304-E5F0-4F40-9608-D0F1A8D74098}" type="slidenum">
              <a:rPr lang="en-GH" smtClean="0"/>
              <a:t>‹#›</a:t>
            </a:fld>
            <a:endParaRPr lang="en-GH"/>
          </a:p>
        </p:txBody>
      </p:sp>
    </p:spTree>
    <p:extLst>
      <p:ext uri="{BB962C8B-B14F-4D97-AF65-F5344CB8AC3E}">
        <p14:creationId xmlns:p14="http://schemas.microsoft.com/office/powerpoint/2010/main" val="5188027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01D8981-9AA4-794E-A435-61F1DDEFB08B}" type="datetimeFigureOut">
              <a:rPr lang="en-GH" smtClean="0"/>
              <a:t>14/06/2021</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6B56F304-E5F0-4F40-9608-D0F1A8D74098}" type="slidenum">
              <a:rPr lang="en-GH" smtClean="0"/>
              <a:t>‹#›</a:t>
            </a:fld>
            <a:endParaRPr lang="en-GH"/>
          </a:p>
        </p:txBody>
      </p:sp>
    </p:spTree>
    <p:extLst>
      <p:ext uri="{BB962C8B-B14F-4D97-AF65-F5344CB8AC3E}">
        <p14:creationId xmlns:p14="http://schemas.microsoft.com/office/powerpoint/2010/main" val="30797215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D01D8981-9AA4-794E-A435-61F1DDEFB08B}" type="datetimeFigureOut">
              <a:rPr lang="en-GH" smtClean="0"/>
              <a:t>14/06/2021</a:t>
            </a:fld>
            <a:endParaRPr lang="en-GH"/>
          </a:p>
        </p:txBody>
      </p:sp>
      <p:sp>
        <p:nvSpPr>
          <p:cNvPr id="6" name="Footer Placeholder 5"/>
          <p:cNvSpPr>
            <a:spLocks noGrp="1"/>
          </p:cNvSpPr>
          <p:nvPr>
            <p:ph type="ftr" sz="quarter" idx="11"/>
          </p:nvPr>
        </p:nvSpPr>
        <p:spPr/>
        <p:txBody>
          <a:bodyPr/>
          <a:lstStyle/>
          <a:p>
            <a:endParaRPr lang="en-GH"/>
          </a:p>
        </p:txBody>
      </p:sp>
      <p:sp>
        <p:nvSpPr>
          <p:cNvPr id="7" name="Slide Number Placeholder 6"/>
          <p:cNvSpPr>
            <a:spLocks noGrp="1"/>
          </p:cNvSpPr>
          <p:nvPr>
            <p:ph type="sldNum" sz="quarter" idx="12"/>
          </p:nvPr>
        </p:nvSpPr>
        <p:spPr/>
        <p:txBody>
          <a:bodyPr/>
          <a:lstStyle/>
          <a:p>
            <a:fld id="{6B56F304-E5F0-4F40-9608-D0F1A8D74098}" type="slidenum">
              <a:rPr lang="en-GH" smtClean="0"/>
              <a:t>‹#›</a:t>
            </a:fld>
            <a:endParaRPr lang="en-GH"/>
          </a:p>
        </p:txBody>
      </p:sp>
    </p:spTree>
    <p:extLst>
      <p:ext uri="{BB962C8B-B14F-4D97-AF65-F5344CB8AC3E}">
        <p14:creationId xmlns:p14="http://schemas.microsoft.com/office/powerpoint/2010/main" val="18023415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D01D8981-9AA4-794E-A435-61F1DDEFB08B}" type="datetimeFigureOut">
              <a:rPr lang="en-GH" smtClean="0"/>
              <a:t>14/06/2021</a:t>
            </a:fld>
            <a:endParaRPr lang="en-GH"/>
          </a:p>
        </p:txBody>
      </p:sp>
      <p:sp>
        <p:nvSpPr>
          <p:cNvPr id="8" name="Footer Placeholder 7"/>
          <p:cNvSpPr>
            <a:spLocks noGrp="1"/>
          </p:cNvSpPr>
          <p:nvPr>
            <p:ph type="ftr" sz="quarter" idx="11"/>
          </p:nvPr>
        </p:nvSpPr>
        <p:spPr/>
        <p:txBody>
          <a:bodyPr/>
          <a:lstStyle/>
          <a:p>
            <a:endParaRPr lang="en-GH"/>
          </a:p>
        </p:txBody>
      </p:sp>
      <p:sp>
        <p:nvSpPr>
          <p:cNvPr id="9" name="Slide Number Placeholder 8"/>
          <p:cNvSpPr>
            <a:spLocks noGrp="1"/>
          </p:cNvSpPr>
          <p:nvPr>
            <p:ph type="sldNum" sz="quarter" idx="12"/>
          </p:nvPr>
        </p:nvSpPr>
        <p:spPr/>
        <p:txBody>
          <a:bodyPr/>
          <a:lstStyle/>
          <a:p>
            <a:fld id="{6B56F304-E5F0-4F40-9608-D0F1A8D74098}" type="slidenum">
              <a:rPr lang="en-GH" smtClean="0"/>
              <a:t>‹#›</a:t>
            </a:fld>
            <a:endParaRPr lang="en-GH"/>
          </a:p>
        </p:txBody>
      </p:sp>
    </p:spTree>
    <p:extLst>
      <p:ext uri="{BB962C8B-B14F-4D97-AF65-F5344CB8AC3E}">
        <p14:creationId xmlns:p14="http://schemas.microsoft.com/office/powerpoint/2010/main" val="12143095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D01D8981-9AA4-794E-A435-61F1DDEFB08B}" type="datetimeFigureOut">
              <a:rPr lang="en-GH" smtClean="0"/>
              <a:t>14/06/2021</a:t>
            </a:fld>
            <a:endParaRPr lang="en-GH"/>
          </a:p>
        </p:txBody>
      </p:sp>
      <p:sp>
        <p:nvSpPr>
          <p:cNvPr id="4" name="Footer Placeholder 3"/>
          <p:cNvSpPr>
            <a:spLocks noGrp="1"/>
          </p:cNvSpPr>
          <p:nvPr>
            <p:ph type="ftr" sz="quarter" idx="11"/>
          </p:nvPr>
        </p:nvSpPr>
        <p:spPr/>
        <p:txBody>
          <a:bodyPr/>
          <a:lstStyle/>
          <a:p>
            <a:endParaRPr lang="en-GH"/>
          </a:p>
        </p:txBody>
      </p:sp>
      <p:sp>
        <p:nvSpPr>
          <p:cNvPr id="5" name="Slide Number Placeholder 4"/>
          <p:cNvSpPr>
            <a:spLocks noGrp="1"/>
          </p:cNvSpPr>
          <p:nvPr>
            <p:ph type="sldNum" sz="quarter" idx="12"/>
          </p:nvPr>
        </p:nvSpPr>
        <p:spPr/>
        <p:txBody>
          <a:bodyPr/>
          <a:lstStyle/>
          <a:p>
            <a:fld id="{6B56F304-E5F0-4F40-9608-D0F1A8D74098}" type="slidenum">
              <a:rPr lang="en-GH" smtClean="0"/>
              <a:t>‹#›</a:t>
            </a:fld>
            <a:endParaRPr lang="en-GH"/>
          </a:p>
        </p:txBody>
      </p:sp>
    </p:spTree>
    <p:extLst>
      <p:ext uri="{BB962C8B-B14F-4D97-AF65-F5344CB8AC3E}">
        <p14:creationId xmlns:p14="http://schemas.microsoft.com/office/powerpoint/2010/main" val="21731676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1D8981-9AA4-794E-A435-61F1DDEFB08B}" type="datetimeFigureOut">
              <a:rPr lang="en-GH" smtClean="0"/>
              <a:t>14/06/2021</a:t>
            </a:fld>
            <a:endParaRPr lang="en-GH"/>
          </a:p>
        </p:txBody>
      </p:sp>
      <p:sp>
        <p:nvSpPr>
          <p:cNvPr id="3" name="Footer Placeholder 2"/>
          <p:cNvSpPr>
            <a:spLocks noGrp="1"/>
          </p:cNvSpPr>
          <p:nvPr>
            <p:ph type="ftr" sz="quarter" idx="11"/>
          </p:nvPr>
        </p:nvSpPr>
        <p:spPr/>
        <p:txBody>
          <a:bodyPr/>
          <a:lstStyle/>
          <a:p>
            <a:endParaRPr lang="en-GH"/>
          </a:p>
        </p:txBody>
      </p:sp>
      <p:sp>
        <p:nvSpPr>
          <p:cNvPr id="4" name="Slide Number Placeholder 3"/>
          <p:cNvSpPr>
            <a:spLocks noGrp="1"/>
          </p:cNvSpPr>
          <p:nvPr>
            <p:ph type="sldNum" sz="quarter" idx="12"/>
          </p:nvPr>
        </p:nvSpPr>
        <p:spPr/>
        <p:txBody>
          <a:bodyPr/>
          <a:lstStyle/>
          <a:p>
            <a:fld id="{6B56F304-E5F0-4F40-9608-D0F1A8D74098}" type="slidenum">
              <a:rPr lang="en-GH" smtClean="0"/>
              <a:t>‹#›</a:t>
            </a:fld>
            <a:endParaRPr lang="en-GH"/>
          </a:p>
        </p:txBody>
      </p:sp>
    </p:spTree>
    <p:extLst>
      <p:ext uri="{BB962C8B-B14F-4D97-AF65-F5344CB8AC3E}">
        <p14:creationId xmlns:p14="http://schemas.microsoft.com/office/powerpoint/2010/main" val="25492424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D01D8981-9AA4-794E-A435-61F1DDEFB08B}" type="datetimeFigureOut">
              <a:rPr lang="en-GH" smtClean="0"/>
              <a:t>14/06/2021</a:t>
            </a:fld>
            <a:endParaRPr lang="en-GH"/>
          </a:p>
        </p:txBody>
      </p:sp>
      <p:sp>
        <p:nvSpPr>
          <p:cNvPr id="6" name="Footer Placeholder 5"/>
          <p:cNvSpPr>
            <a:spLocks noGrp="1"/>
          </p:cNvSpPr>
          <p:nvPr>
            <p:ph type="ftr" sz="quarter" idx="11"/>
          </p:nvPr>
        </p:nvSpPr>
        <p:spPr/>
        <p:txBody>
          <a:bodyPr/>
          <a:lstStyle/>
          <a:p>
            <a:endParaRPr lang="en-GH"/>
          </a:p>
        </p:txBody>
      </p:sp>
      <p:sp>
        <p:nvSpPr>
          <p:cNvPr id="7" name="Slide Number Placeholder 6"/>
          <p:cNvSpPr>
            <a:spLocks noGrp="1"/>
          </p:cNvSpPr>
          <p:nvPr>
            <p:ph type="sldNum" sz="quarter" idx="12"/>
          </p:nvPr>
        </p:nvSpPr>
        <p:spPr/>
        <p:txBody>
          <a:bodyPr/>
          <a:lstStyle/>
          <a:p>
            <a:fld id="{6B56F304-E5F0-4F40-9608-D0F1A8D74098}" type="slidenum">
              <a:rPr lang="en-GH" smtClean="0"/>
              <a:t>‹#›</a:t>
            </a:fld>
            <a:endParaRPr lang="en-GH"/>
          </a:p>
        </p:txBody>
      </p:sp>
    </p:spTree>
    <p:extLst>
      <p:ext uri="{BB962C8B-B14F-4D97-AF65-F5344CB8AC3E}">
        <p14:creationId xmlns:p14="http://schemas.microsoft.com/office/powerpoint/2010/main" val="22781517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D01D8981-9AA4-794E-A435-61F1DDEFB08B}" type="datetimeFigureOut">
              <a:rPr lang="en-GH" smtClean="0"/>
              <a:t>14/06/2021</a:t>
            </a:fld>
            <a:endParaRPr lang="en-GH"/>
          </a:p>
        </p:txBody>
      </p:sp>
      <p:sp>
        <p:nvSpPr>
          <p:cNvPr id="6" name="Footer Placeholder 5"/>
          <p:cNvSpPr>
            <a:spLocks noGrp="1"/>
          </p:cNvSpPr>
          <p:nvPr>
            <p:ph type="ftr" sz="quarter" idx="11"/>
          </p:nvPr>
        </p:nvSpPr>
        <p:spPr/>
        <p:txBody>
          <a:bodyPr/>
          <a:lstStyle/>
          <a:p>
            <a:endParaRPr lang="en-GH"/>
          </a:p>
        </p:txBody>
      </p:sp>
      <p:sp>
        <p:nvSpPr>
          <p:cNvPr id="7" name="Slide Number Placeholder 6"/>
          <p:cNvSpPr>
            <a:spLocks noGrp="1"/>
          </p:cNvSpPr>
          <p:nvPr>
            <p:ph type="sldNum" sz="quarter" idx="12"/>
          </p:nvPr>
        </p:nvSpPr>
        <p:spPr/>
        <p:txBody>
          <a:bodyPr/>
          <a:lstStyle/>
          <a:p>
            <a:fld id="{6B56F304-E5F0-4F40-9608-D0F1A8D74098}" type="slidenum">
              <a:rPr lang="en-GH" smtClean="0"/>
              <a:t>‹#›</a:t>
            </a:fld>
            <a:endParaRPr lang="en-GH"/>
          </a:p>
        </p:txBody>
      </p:sp>
    </p:spTree>
    <p:extLst>
      <p:ext uri="{BB962C8B-B14F-4D97-AF65-F5344CB8AC3E}">
        <p14:creationId xmlns:p14="http://schemas.microsoft.com/office/powerpoint/2010/main" val="19292119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01D8981-9AA4-794E-A435-61F1DDEFB08B}" type="datetimeFigureOut">
              <a:rPr lang="en-GH" smtClean="0"/>
              <a:t>14/06/2021</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6B56F304-E5F0-4F40-9608-D0F1A8D74098}" type="slidenum">
              <a:rPr lang="en-GH" smtClean="0"/>
              <a:t>‹#›</a:t>
            </a:fld>
            <a:endParaRPr lang="en-GH"/>
          </a:p>
        </p:txBody>
      </p:sp>
    </p:spTree>
    <p:extLst>
      <p:ext uri="{BB962C8B-B14F-4D97-AF65-F5344CB8AC3E}">
        <p14:creationId xmlns:p14="http://schemas.microsoft.com/office/powerpoint/2010/main" val="12604821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01D8981-9AA4-794E-A435-61F1DDEFB08B}" type="datetimeFigureOut">
              <a:rPr lang="en-GH" smtClean="0"/>
              <a:t>14/06/2021</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6B56F304-E5F0-4F40-9608-D0F1A8D74098}" type="slidenum">
              <a:rPr lang="en-GH" smtClean="0"/>
              <a:t>‹#›</a:t>
            </a:fld>
            <a:endParaRPr lang="en-GH"/>
          </a:p>
        </p:txBody>
      </p:sp>
    </p:spTree>
    <p:extLst>
      <p:ext uri="{BB962C8B-B14F-4D97-AF65-F5344CB8AC3E}">
        <p14:creationId xmlns:p14="http://schemas.microsoft.com/office/powerpoint/2010/main" val="3173542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2BE8D4F-2723-0F4B-88BB-524A84136819}" type="datetimeFigureOut">
              <a:rPr lang="en-GH" smtClean="0"/>
              <a:t>14/06/2021</a:t>
            </a:fld>
            <a:endParaRPr lang="en-GH"/>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H"/>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0F91E22-6E4C-3B41-BC57-4C8C9BB39545}" type="slidenum">
              <a:rPr lang="en-GH" smtClean="0"/>
              <a:t>‹#›</a:t>
            </a:fld>
            <a:endParaRPr lang="en-GH"/>
          </a:p>
        </p:txBody>
      </p:sp>
    </p:spTree>
    <p:extLst>
      <p:ext uri="{BB962C8B-B14F-4D97-AF65-F5344CB8AC3E}">
        <p14:creationId xmlns:p14="http://schemas.microsoft.com/office/powerpoint/2010/main" val="2689201523"/>
      </p:ext>
    </p:extLst>
  </p:cSld>
  <p:clrMap bg1="lt1" tx1="dk1" bg2="lt2" tx2="dk2" accent1="accent1" accent2="accent2" accent3="accent3" accent4="accent4" accent5="accent5" accent6="accent6" hlink="hlink" folHlink="folHlink"/>
  <p:sldLayoutIdLst>
    <p:sldLayoutId id="2147483939" r:id="rId1"/>
    <p:sldLayoutId id="2147483940" r:id="rId2"/>
    <p:sldLayoutId id="2147483941" r:id="rId3"/>
    <p:sldLayoutId id="2147483942" r:id="rId4"/>
    <p:sldLayoutId id="2147483943" r:id="rId5"/>
    <p:sldLayoutId id="2147483944" r:id="rId6"/>
    <p:sldLayoutId id="2147483945" r:id="rId7"/>
    <p:sldLayoutId id="2147483946" r:id="rId8"/>
    <p:sldLayoutId id="2147483947" r:id="rId9"/>
    <p:sldLayoutId id="2147483948" r:id="rId10"/>
    <p:sldLayoutId id="2147483949" r:id="rId11"/>
    <p:sldLayoutId id="2147483950" r:id="rId12"/>
    <p:sldLayoutId id="2147483951" r:id="rId13"/>
    <p:sldLayoutId id="2147483952" r:id="rId14"/>
    <p:sldLayoutId id="2147483953" r:id="rId15"/>
    <p:sldLayoutId id="214748395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1D8981-9AA4-794E-A435-61F1DDEFB08B}" type="datetimeFigureOut">
              <a:rPr lang="en-GH" smtClean="0"/>
              <a:t>14/06/2021</a:t>
            </a:fld>
            <a:endParaRPr lang="en-GH"/>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H"/>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56F304-E5F0-4F40-9608-D0F1A8D74098}" type="slidenum">
              <a:rPr lang="en-GH" smtClean="0"/>
              <a:t>‹#›</a:t>
            </a:fld>
            <a:endParaRPr lang="en-GH"/>
          </a:p>
        </p:txBody>
      </p:sp>
    </p:spTree>
    <p:extLst>
      <p:ext uri="{BB962C8B-B14F-4D97-AF65-F5344CB8AC3E}">
        <p14:creationId xmlns:p14="http://schemas.microsoft.com/office/powerpoint/2010/main" val="694070668"/>
      </p:ext>
    </p:extLst>
  </p:cSld>
  <p:clrMap bg1="lt1" tx1="dk1" bg2="lt2" tx2="dk2" accent1="accent1" accent2="accent2" accent3="accent3" accent4="accent4" accent5="accent5" accent6="accent6" hlink="hlink" folHlink="folHlink"/>
  <p:sldLayoutIdLst>
    <p:sldLayoutId id="2147483956" r:id="rId1"/>
    <p:sldLayoutId id="2147483957" r:id="rId2"/>
    <p:sldLayoutId id="2147483958" r:id="rId3"/>
    <p:sldLayoutId id="2147483959" r:id="rId4"/>
    <p:sldLayoutId id="2147483960" r:id="rId5"/>
    <p:sldLayoutId id="2147483961" r:id="rId6"/>
    <p:sldLayoutId id="2147483962" r:id="rId7"/>
    <p:sldLayoutId id="2147483963" r:id="rId8"/>
    <p:sldLayoutId id="2147483964" r:id="rId9"/>
    <p:sldLayoutId id="2147483965" r:id="rId10"/>
    <p:sldLayoutId id="214748396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 Id="rId9" Type="http://schemas.openxmlformats.org/officeDocument/2006/relationships/image" Target="../media/image47.png"/></Relationships>
</file>

<file path=ppt/slides/_rels/slide3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4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4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mailto:Lamine.cisse@datadevafrica.com" TargetMode="External"/><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7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0000"/>
            <a:lum/>
          </a:blip>
          <a:srcRect/>
          <a:stretch>
            <a:fillRect l="-25000" r="-25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3FF1B-B8B5-EB49-8942-3EDE44D04C1A}"/>
              </a:ext>
            </a:extLst>
          </p:cNvPr>
          <p:cNvSpPr>
            <a:spLocks noGrp="1"/>
          </p:cNvSpPr>
          <p:nvPr>
            <p:ph type="ctrTitle"/>
          </p:nvPr>
        </p:nvSpPr>
        <p:spPr>
          <a:xfrm>
            <a:off x="599308" y="2719493"/>
            <a:ext cx="7945381" cy="1916935"/>
          </a:xfrm>
        </p:spPr>
        <p:txBody>
          <a:bodyPr>
            <a:normAutofit fontScale="90000"/>
          </a:bodyPr>
          <a:lstStyle/>
          <a:p>
            <a:r>
              <a:rPr lang="en-GH" sz="4000" b="1" dirty="0">
                <a:solidFill>
                  <a:schemeClr val="tx1"/>
                </a:solidFill>
                <a:latin typeface="+mn-lt"/>
              </a:rPr>
              <a:t>ETABLISSEMENT D’UNE PLATEFORME ELECTRONIQUE DE SUIVI ET EVALUATION</a:t>
            </a:r>
          </a:p>
        </p:txBody>
      </p:sp>
      <p:sp>
        <p:nvSpPr>
          <p:cNvPr id="9" name="TextBox 8">
            <a:extLst>
              <a:ext uri="{FF2B5EF4-FFF2-40B4-BE49-F238E27FC236}">
                <a16:creationId xmlns:a16="http://schemas.microsoft.com/office/drawing/2014/main" id="{7FBB643D-330C-D548-A8CF-22D5DDADD6D9}"/>
              </a:ext>
            </a:extLst>
          </p:cNvPr>
          <p:cNvSpPr txBox="1"/>
          <p:nvPr/>
        </p:nvSpPr>
        <p:spPr>
          <a:xfrm>
            <a:off x="2917371" y="4976477"/>
            <a:ext cx="3309257" cy="307777"/>
          </a:xfrm>
          <a:prstGeom prst="rect">
            <a:avLst/>
          </a:prstGeom>
          <a:noFill/>
        </p:spPr>
        <p:txBody>
          <a:bodyPr wrap="square" rtlCol="0">
            <a:spAutoFit/>
          </a:bodyPr>
          <a:lstStyle/>
          <a:p>
            <a:pPr algn="ctr"/>
            <a:r>
              <a:rPr lang="en-GH" sz="1400" i="1" dirty="0"/>
              <a:t>Ouagadougour, le s 07 et 08 Juin 2021</a:t>
            </a:r>
          </a:p>
        </p:txBody>
      </p:sp>
      <p:sp>
        <p:nvSpPr>
          <p:cNvPr id="10" name="TextBox 9">
            <a:extLst>
              <a:ext uri="{FF2B5EF4-FFF2-40B4-BE49-F238E27FC236}">
                <a16:creationId xmlns:a16="http://schemas.microsoft.com/office/drawing/2014/main" id="{1DC93522-9E59-F741-88EA-880B0ED691D1}"/>
              </a:ext>
            </a:extLst>
          </p:cNvPr>
          <p:cNvSpPr txBox="1"/>
          <p:nvPr/>
        </p:nvSpPr>
        <p:spPr>
          <a:xfrm>
            <a:off x="5777182" y="5964352"/>
            <a:ext cx="3135086" cy="584775"/>
          </a:xfrm>
          <a:prstGeom prst="rect">
            <a:avLst/>
          </a:prstGeom>
          <a:noFill/>
        </p:spPr>
        <p:txBody>
          <a:bodyPr wrap="square" rtlCol="0">
            <a:spAutoFit/>
          </a:bodyPr>
          <a:lstStyle/>
          <a:p>
            <a:r>
              <a:rPr lang="en-GH" sz="1600" b="1" dirty="0">
                <a:solidFill>
                  <a:schemeClr val="accent2">
                    <a:lumMod val="75000"/>
                  </a:schemeClr>
                </a:solidFill>
              </a:rPr>
              <a:t>DataDevAfrica Consulting</a:t>
            </a:r>
          </a:p>
          <a:p>
            <a:r>
              <a:rPr lang="en-GH" sz="1600" b="1" dirty="0"/>
              <a:t>info@datadevafrica.com  </a:t>
            </a:r>
          </a:p>
        </p:txBody>
      </p:sp>
      <p:pic>
        <p:nvPicPr>
          <p:cNvPr id="11" name="Picture 10" descr="Logo&#10;&#10;Description automatically generated">
            <a:extLst>
              <a:ext uri="{FF2B5EF4-FFF2-40B4-BE49-F238E27FC236}">
                <a16:creationId xmlns:a16="http://schemas.microsoft.com/office/drawing/2014/main" id="{44A821AE-58E4-3647-B271-8DFB88AC10BE}"/>
              </a:ext>
            </a:extLst>
          </p:cNvPr>
          <p:cNvPicPr>
            <a:picLocks noChangeAspect="1"/>
          </p:cNvPicPr>
          <p:nvPr/>
        </p:nvPicPr>
        <p:blipFill>
          <a:blip r:embed="rId3"/>
          <a:stretch>
            <a:fillRect/>
          </a:stretch>
        </p:blipFill>
        <p:spPr>
          <a:xfrm>
            <a:off x="499704" y="449459"/>
            <a:ext cx="2080210" cy="1561720"/>
          </a:xfrm>
          <a:prstGeom prst="rect">
            <a:avLst/>
          </a:prstGeom>
          <a:solidFill>
            <a:schemeClr val="accent1">
              <a:lumMod val="60000"/>
              <a:lumOff val="40000"/>
            </a:schemeClr>
          </a:solidFill>
        </p:spPr>
      </p:pic>
    </p:spTree>
    <p:extLst>
      <p:ext uri="{BB962C8B-B14F-4D97-AF65-F5344CB8AC3E}">
        <p14:creationId xmlns:p14="http://schemas.microsoft.com/office/powerpoint/2010/main" val="2539657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FC90D6B-6BC7-BD47-AF41-A6F06AFB3EDD}"/>
              </a:ext>
            </a:extLst>
          </p:cNvPr>
          <p:cNvGrpSpPr/>
          <p:nvPr/>
        </p:nvGrpSpPr>
        <p:grpSpPr>
          <a:xfrm>
            <a:off x="614813" y="772888"/>
            <a:ext cx="7914374" cy="3243942"/>
            <a:chOff x="0" y="254000"/>
            <a:chExt cx="12192000" cy="5088835"/>
          </a:xfrm>
        </p:grpSpPr>
        <p:pic>
          <p:nvPicPr>
            <p:cNvPr id="9" name="Picture 8" descr="A person looking at the camera&#10;&#10;Description automatically generated">
              <a:extLst>
                <a:ext uri="{FF2B5EF4-FFF2-40B4-BE49-F238E27FC236}">
                  <a16:creationId xmlns:a16="http://schemas.microsoft.com/office/drawing/2014/main" id="{83BFBA23-1A5F-384B-B00F-F9A0C78BBA58}"/>
                </a:ext>
              </a:extLst>
            </p:cNvPr>
            <p:cNvPicPr>
              <a:picLocks noChangeAspect="1"/>
            </p:cNvPicPr>
            <p:nvPr/>
          </p:nvPicPr>
          <p:blipFill>
            <a:blip r:embed="rId2"/>
            <a:stretch>
              <a:fillRect/>
            </a:stretch>
          </p:blipFill>
          <p:spPr>
            <a:xfrm>
              <a:off x="0" y="254000"/>
              <a:ext cx="12192000" cy="5088835"/>
            </a:xfrm>
            <a:prstGeom prst="rect">
              <a:avLst/>
            </a:prstGeom>
          </p:spPr>
        </p:pic>
        <p:pic>
          <p:nvPicPr>
            <p:cNvPr id="10" name="Picture 9" descr="A close up of a sign&#10;&#10;Description automatically generated">
              <a:extLst>
                <a:ext uri="{FF2B5EF4-FFF2-40B4-BE49-F238E27FC236}">
                  <a16:creationId xmlns:a16="http://schemas.microsoft.com/office/drawing/2014/main" id="{55356744-39FA-8845-B57E-4972DCB656CC}"/>
                </a:ext>
              </a:extLst>
            </p:cNvPr>
            <p:cNvPicPr>
              <a:picLocks noChangeAspect="1"/>
            </p:cNvPicPr>
            <p:nvPr/>
          </p:nvPicPr>
          <p:blipFill>
            <a:blip r:embed="rId3"/>
            <a:stretch>
              <a:fillRect/>
            </a:stretch>
          </p:blipFill>
          <p:spPr>
            <a:xfrm>
              <a:off x="511629" y="1269501"/>
              <a:ext cx="4586748" cy="3057832"/>
            </a:xfrm>
            <a:prstGeom prst="rect">
              <a:avLst/>
            </a:prstGeom>
          </p:spPr>
        </p:pic>
        <p:sp>
          <p:nvSpPr>
            <p:cNvPr id="11" name="TextBox 10">
              <a:extLst>
                <a:ext uri="{FF2B5EF4-FFF2-40B4-BE49-F238E27FC236}">
                  <a16:creationId xmlns:a16="http://schemas.microsoft.com/office/drawing/2014/main" id="{01CDDFB0-72CD-5A4C-BD82-F0350EB7E48E}"/>
                </a:ext>
              </a:extLst>
            </p:cNvPr>
            <p:cNvSpPr txBox="1"/>
            <p:nvPr/>
          </p:nvSpPr>
          <p:spPr>
            <a:xfrm>
              <a:off x="359345" y="4354811"/>
              <a:ext cx="4891313" cy="451405"/>
            </a:xfrm>
            <a:prstGeom prst="rect">
              <a:avLst/>
            </a:prstGeom>
            <a:noFill/>
          </p:spPr>
          <p:txBody>
            <a:bodyPr wrap="square" rtlCol="0">
              <a:spAutoFit/>
            </a:bodyPr>
            <a:lstStyle/>
            <a:p>
              <a:pPr algn="ctr"/>
              <a:r>
                <a:rPr lang="en-GH" sz="1600" i="1" dirty="0">
                  <a:solidFill>
                    <a:schemeClr val="accent5">
                      <a:lumMod val="60000"/>
                      <a:lumOff val="40000"/>
                    </a:schemeClr>
                  </a:solidFill>
                  <a:latin typeface="Book Antiqua" panose="02040602050305030304" pitchFamily="18" charset="0"/>
                  <a:ea typeface="Apple Color Emoji" pitchFamily="2" charset="0"/>
                  <a:cs typeface="Bangla Sangam MN" panose="02000000000000000000" pitchFamily="2" charset="0"/>
                </a:rPr>
                <a:t>Groupe de Recherche Expertise et Conseil</a:t>
              </a:r>
            </a:p>
          </p:txBody>
        </p:sp>
      </p:grpSp>
      <p:sp>
        <p:nvSpPr>
          <p:cNvPr id="2" name="Rectangle 1">
            <a:extLst>
              <a:ext uri="{FF2B5EF4-FFF2-40B4-BE49-F238E27FC236}">
                <a16:creationId xmlns:a16="http://schemas.microsoft.com/office/drawing/2014/main" id="{6A1CBBF8-93EB-004C-9829-5C20BA22EFE0}"/>
              </a:ext>
            </a:extLst>
          </p:cNvPr>
          <p:cNvSpPr/>
          <p:nvPr/>
        </p:nvSpPr>
        <p:spPr>
          <a:xfrm>
            <a:off x="614813" y="4477305"/>
            <a:ext cx="7914374" cy="1754326"/>
          </a:xfrm>
          <a:prstGeom prst="rect">
            <a:avLst/>
          </a:prstGeom>
        </p:spPr>
        <p:txBody>
          <a:bodyPr wrap="square">
            <a:spAutoFit/>
          </a:bodyPr>
          <a:lstStyle/>
          <a:p>
            <a:r>
              <a:rPr lang="fr-FR" dirty="0">
                <a:solidFill>
                  <a:srgbClr val="292D35"/>
                </a:solidFill>
                <a:latin typeface="Muli"/>
              </a:rPr>
              <a:t>DataDevAfrica est une firme de Recherche et Conseil regroupant des compétences de haut niveau intervenant dans différents domaines dont notamment le Suivi et l’Évaluation le développement organisationnel et l’appui institutionnel le renforcement des capacités les études de faisabilité l’appui au développement des chaines de valeur et l’agrobusiness la recherche qualitative et quantitative la conduite d'enquêtes statistiques la transformation digitale.</a:t>
            </a:r>
            <a:endParaRPr lang="fr-FR" dirty="0"/>
          </a:p>
        </p:txBody>
      </p:sp>
    </p:spTree>
    <p:extLst>
      <p:ext uri="{BB962C8B-B14F-4D97-AF65-F5344CB8AC3E}">
        <p14:creationId xmlns:p14="http://schemas.microsoft.com/office/powerpoint/2010/main" val="8169402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1E7530-396C-45F0-92F4-A885648D16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7316481C-0A49-4796-812B-0D64F063B7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64924" cy="6858000"/>
          </a:xfrm>
          <a:prstGeom prst="rect">
            <a:avLst/>
          </a:prstGeom>
          <a:solidFill>
            <a:schemeClr val="tx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A5271697-90F1-4A23-8EF2-0179F2EAF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5228" cy="323398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8" name="Group 17">
            <a:extLst>
              <a:ext uri="{FF2B5EF4-FFF2-40B4-BE49-F238E27FC236}">
                <a16:creationId xmlns:a16="http://schemas.microsoft.com/office/drawing/2014/main" id="{81DE8B58-F373-409E-A253-4380A66091D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91540" y="73152"/>
            <a:ext cx="884223" cy="232963"/>
            <a:chOff x="1188720" y="73152"/>
            <a:chExt cx="1178966" cy="232963"/>
          </a:xfrm>
        </p:grpSpPr>
        <p:sp>
          <p:nvSpPr>
            <p:cNvPr id="19" name="Rectangle 64">
              <a:extLst>
                <a:ext uri="{FF2B5EF4-FFF2-40B4-BE49-F238E27FC236}">
                  <a16:creationId xmlns:a16="http://schemas.microsoft.com/office/drawing/2014/main" id="{F5ACE265-D22D-48CC-99DE-EB81AE922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88541"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66">
              <a:extLst>
                <a:ext uri="{FF2B5EF4-FFF2-40B4-BE49-F238E27FC236}">
                  <a16:creationId xmlns:a16="http://schemas.microsoft.com/office/drawing/2014/main" id="{6FE80EEA-F4ED-4436-8861-0BEAAEFE76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88541"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64">
              <a:extLst>
                <a:ext uri="{FF2B5EF4-FFF2-40B4-BE49-F238E27FC236}">
                  <a16:creationId xmlns:a16="http://schemas.microsoft.com/office/drawing/2014/main" id="{C3642BC8-86E8-47D0-8846-3E4D49E4B4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3586"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66">
              <a:extLst>
                <a:ext uri="{FF2B5EF4-FFF2-40B4-BE49-F238E27FC236}">
                  <a16:creationId xmlns:a16="http://schemas.microsoft.com/office/drawing/2014/main" id="{82D35214-3634-4180-BF0E-45B6145161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3586"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64">
              <a:extLst>
                <a:ext uri="{FF2B5EF4-FFF2-40B4-BE49-F238E27FC236}">
                  <a16:creationId xmlns:a16="http://schemas.microsoft.com/office/drawing/2014/main" id="{15BE89E6-3D1C-42B5-A950-E72889F8BB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38631"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66">
              <a:extLst>
                <a:ext uri="{FF2B5EF4-FFF2-40B4-BE49-F238E27FC236}">
                  <a16:creationId xmlns:a16="http://schemas.microsoft.com/office/drawing/2014/main" id="{473771CC-5097-4E08-9606-24B0BC9A0D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38631"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64">
              <a:extLst>
                <a:ext uri="{FF2B5EF4-FFF2-40B4-BE49-F238E27FC236}">
                  <a16:creationId xmlns:a16="http://schemas.microsoft.com/office/drawing/2014/main" id="{BE872634-00DA-47BD-880D-5C05FFADCC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3675"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66">
              <a:extLst>
                <a:ext uri="{FF2B5EF4-FFF2-40B4-BE49-F238E27FC236}">
                  <a16:creationId xmlns:a16="http://schemas.microsoft.com/office/drawing/2014/main" id="{4F151F5C-DE9B-460E-BC51-471F4A8A5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3675"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64">
              <a:extLst>
                <a:ext uri="{FF2B5EF4-FFF2-40B4-BE49-F238E27FC236}">
                  <a16:creationId xmlns:a16="http://schemas.microsoft.com/office/drawing/2014/main" id="{34557B8A-4D2F-4D0D-B746-59EA85318C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88720"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Rectangle 66">
              <a:extLst>
                <a:ext uri="{FF2B5EF4-FFF2-40B4-BE49-F238E27FC236}">
                  <a16:creationId xmlns:a16="http://schemas.microsoft.com/office/drawing/2014/main" id="{C764CD8E-E409-4E9B-8E87-746DDE36D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88720"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64">
              <a:extLst>
                <a:ext uri="{FF2B5EF4-FFF2-40B4-BE49-F238E27FC236}">
                  <a16:creationId xmlns:a16="http://schemas.microsoft.com/office/drawing/2014/main" id="{8E27A01D-2F01-4286-9453-3FBF6E84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13318"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66">
              <a:extLst>
                <a:ext uri="{FF2B5EF4-FFF2-40B4-BE49-F238E27FC236}">
                  <a16:creationId xmlns:a16="http://schemas.microsoft.com/office/drawing/2014/main" id="{460487A5-12EB-422E-9588-8FF06FAF73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13318"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64">
              <a:extLst>
                <a:ext uri="{FF2B5EF4-FFF2-40B4-BE49-F238E27FC236}">
                  <a16:creationId xmlns:a16="http://schemas.microsoft.com/office/drawing/2014/main" id="{7D522D20-C9F7-4B34-9066-4B43ADAAB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188363"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66">
              <a:extLst>
                <a:ext uri="{FF2B5EF4-FFF2-40B4-BE49-F238E27FC236}">
                  <a16:creationId xmlns:a16="http://schemas.microsoft.com/office/drawing/2014/main" id="{97B04F2C-295B-447A-8941-0AD4F55516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188363"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Rectangle 64">
              <a:extLst>
                <a:ext uri="{FF2B5EF4-FFF2-40B4-BE49-F238E27FC236}">
                  <a16:creationId xmlns:a16="http://schemas.microsoft.com/office/drawing/2014/main" id="{17D7FF91-B366-4534-B9B4-5710926EE7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063408"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Rectangle 66">
              <a:extLst>
                <a:ext uri="{FF2B5EF4-FFF2-40B4-BE49-F238E27FC236}">
                  <a16:creationId xmlns:a16="http://schemas.microsoft.com/office/drawing/2014/main" id="{B5B8116C-ADD9-4826-9C37-270377E8F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063408"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Rectangle 64">
              <a:extLst>
                <a:ext uri="{FF2B5EF4-FFF2-40B4-BE49-F238E27FC236}">
                  <a16:creationId xmlns:a16="http://schemas.microsoft.com/office/drawing/2014/main" id="{22D01D96-8DB8-40BF-83AC-4CA49EC263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8452"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Rectangle 66">
              <a:extLst>
                <a:ext uri="{FF2B5EF4-FFF2-40B4-BE49-F238E27FC236}">
                  <a16:creationId xmlns:a16="http://schemas.microsoft.com/office/drawing/2014/main" id="{44B584CD-5E60-4B15-847C-B30D15DA1A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8452"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64">
              <a:extLst>
                <a:ext uri="{FF2B5EF4-FFF2-40B4-BE49-F238E27FC236}">
                  <a16:creationId xmlns:a16="http://schemas.microsoft.com/office/drawing/2014/main" id="{CF2BB7DC-B968-4F0B-9748-BF0E6E297C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13497"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66">
              <a:extLst>
                <a:ext uri="{FF2B5EF4-FFF2-40B4-BE49-F238E27FC236}">
                  <a16:creationId xmlns:a16="http://schemas.microsoft.com/office/drawing/2014/main" id="{CF12C159-3F09-4861-9450-ECD5DB310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13497"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40" name="Rectangle 39">
            <a:extLst>
              <a:ext uri="{FF2B5EF4-FFF2-40B4-BE49-F238E27FC236}">
                <a16:creationId xmlns:a16="http://schemas.microsoft.com/office/drawing/2014/main" id="{D9F5512A-48E1-4C07-B75E-3CCC517B6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33984"/>
            <a:ext cx="455228" cy="36240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2C8B1792-848C-FA44-BCC4-00602C69EE7E}"/>
              </a:ext>
            </a:extLst>
          </p:cNvPr>
          <p:cNvSpPr/>
          <p:nvPr/>
        </p:nvSpPr>
        <p:spPr>
          <a:xfrm>
            <a:off x="751114" y="438492"/>
            <a:ext cx="5181600" cy="1988166"/>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4400" b="1" i="0" u="none" strike="noStrike" kern="1200" cap="none" spc="0" normalizeH="0" baseline="0" noProof="0" dirty="0">
                <a:ln>
                  <a:noFill/>
                </a:ln>
                <a:solidFill>
                  <a:srgbClr val="4472C4">
                    <a:lumMod val="20000"/>
                    <a:lumOff val="80000"/>
                  </a:srgbClr>
                </a:solidFill>
                <a:effectLst/>
                <a:uLnTx/>
                <a:uFillTx/>
                <a:latin typeface="Calibri" panose="020F0502020204030204"/>
                <a:ea typeface="+mn-ea"/>
                <a:cs typeface="+mn-cs"/>
              </a:rPr>
              <a:t>SUIVI ET EVALUATION</a:t>
            </a:r>
          </a:p>
          <a:p>
            <a:pPr marL="0" marR="0" lvl="0" indent="0" algn="l" defTabSz="914400" rtl="0" eaLnBrk="1" fontAlgn="auto" latinLnBrk="0" hangingPunct="1">
              <a:lnSpc>
                <a:spcPct val="9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4472C4">
                  <a:lumMod val="20000"/>
                  <a:lumOff val="80000"/>
                </a:srgbClr>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8188B141-A281-E943-8A27-2B38B8EA6F23}"/>
              </a:ext>
            </a:extLst>
          </p:cNvPr>
          <p:cNvSpPr/>
          <p:nvPr/>
        </p:nvSpPr>
        <p:spPr>
          <a:xfrm>
            <a:off x="804402" y="4532863"/>
            <a:ext cx="8130278" cy="1977914"/>
          </a:xfrm>
          <a:prstGeom prst="rect">
            <a:avLst/>
          </a:prstGeom>
          <a:solidFill>
            <a:schemeClr val="tx1">
              <a:lumMod val="65000"/>
              <a:lumOff val="35000"/>
              <a:alpha val="55000"/>
            </a:schemeClr>
          </a:solidFill>
        </p:spPr>
        <p:txBody>
          <a:bodyPr wrap="square">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fr-FR" sz="1700" b="0" i="1" u="none" strike="noStrike" kern="1200" cap="none" spc="0" normalizeH="0" baseline="0" noProof="0" dirty="0">
                <a:ln>
                  <a:noFill/>
                </a:ln>
                <a:solidFill>
                  <a:schemeClr val="bg1">
                    <a:lumMod val="85000"/>
                  </a:schemeClr>
                </a:solidFill>
                <a:effectLst/>
                <a:uLnTx/>
                <a:uFillTx/>
                <a:latin typeface="Book Antiqua" panose="02040602050305030304" pitchFamily="18" charset="0"/>
                <a:ea typeface="+mn-ea"/>
                <a:cs typeface="+mn-cs"/>
              </a:rPr>
              <a:t>Nous développons des méthodes et des outils innovants pour mesurer et évaluer les progrès, améliorer la qualité des interventions, soutenir leur effectivité et leur meilleur impact. Nous aidons nos clients à définir leurs résultats, à créer des indicateurs de performances valides et fiables, à définir des cibles réalistes, à collecter des données grâce à une gamme de méthodes, de formats et de protocoles de collecte. Nous nous concentrons également sur l'amélioration de la qualité des données, la réalisation d'analyses de données quantitatives et qualitatives rigoureuses et la conception de </a:t>
            </a:r>
            <a:r>
              <a:rPr kumimoji="0" lang="fr-FR" sz="1700" b="0" i="1" u="none" strike="noStrike" kern="1200" cap="none" spc="0" normalizeH="0" baseline="0" noProof="0" dirty="0" err="1">
                <a:ln>
                  <a:noFill/>
                </a:ln>
                <a:solidFill>
                  <a:schemeClr val="bg1">
                    <a:lumMod val="85000"/>
                  </a:schemeClr>
                </a:solidFill>
                <a:effectLst/>
                <a:uLnTx/>
                <a:uFillTx/>
                <a:latin typeface="Book Antiqua" panose="02040602050305030304" pitchFamily="18" charset="0"/>
                <a:ea typeface="+mn-ea"/>
                <a:cs typeface="+mn-cs"/>
              </a:rPr>
              <a:t>systé</a:t>
            </a:r>
            <a:r>
              <a:rPr lang="fr-FR" sz="1700" i="1" dirty="0">
                <a:solidFill>
                  <a:schemeClr val="bg1">
                    <a:lumMod val="85000"/>
                  </a:schemeClr>
                </a:solidFill>
                <a:latin typeface="Book Antiqua" panose="02040602050305030304" pitchFamily="18" charset="0"/>
              </a:rPr>
              <a:t>mes de gestion des données et des plateformes électroniques </a:t>
            </a:r>
            <a:r>
              <a:rPr kumimoji="0" lang="fr-FR" sz="1700" b="0" i="1" u="none" strike="noStrike" kern="1200" cap="none" spc="0" normalizeH="0" baseline="0" noProof="0" dirty="0">
                <a:ln>
                  <a:noFill/>
                </a:ln>
                <a:solidFill>
                  <a:schemeClr val="bg1">
                    <a:lumMod val="85000"/>
                  </a:schemeClr>
                </a:solidFill>
                <a:effectLst/>
                <a:uLnTx/>
                <a:uFillTx/>
                <a:latin typeface="Book Antiqua" panose="02040602050305030304" pitchFamily="18" charset="0"/>
                <a:ea typeface="+mn-ea"/>
                <a:cs typeface="+mn-cs"/>
              </a:rPr>
              <a:t>pour mieux rendre compte des performances. </a:t>
            </a:r>
            <a:endParaRPr kumimoji="0" lang="en-US" sz="1700" b="0" i="1" u="none" strike="noStrike" kern="1200" cap="none" spc="0" normalizeH="0" baseline="0" noProof="0" dirty="0">
              <a:ln>
                <a:noFill/>
              </a:ln>
              <a:solidFill>
                <a:schemeClr val="bg1">
                  <a:lumMod val="85000"/>
                </a:schemeClr>
              </a:solidFill>
              <a:effectLst/>
              <a:uLnTx/>
              <a:uFillTx/>
              <a:latin typeface="Book Antiqua" panose="02040602050305030304" pitchFamily="18" charset="0"/>
              <a:ea typeface="+mn-ea"/>
              <a:cs typeface="+mn-cs"/>
            </a:endParaRPr>
          </a:p>
        </p:txBody>
      </p:sp>
      <p:pic>
        <p:nvPicPr>
          <p:cNvPr id="6" name="Picture 5" descr="A close up of a logo&#10;&#10;Description automatically generated">
            <a:extLst>
              <a:ext uri="{FF2B5EF4-FFF2-40B4-BE49-F238E27FC236}">
                <a16:creationId xmlns:a16="http://schemas.microsoft.com/office/drawing/2014/main" id="{844264D9-D6D2-BD4B-A9AE-CE1AC4828842}"/>
              </a:ext>
            </a:extLst>
          </p:cNvPr>
          <p:cNvPicPr>
            <a:picLocks noChangeAspect="1"/>
          </p:cNvPicPr>
          <p:nvPr/>
        </p:nvPicPr>
        <p:blipFill>
          <a:blip r:embed="rId3"/>
          <a:stretch>
            <a:fillRect/>
          </a:stretch>
        </p:blipFill>
        <p:spPr>
          <a:xfrm>
            <a:off x="804402" y="2130418"/>
            <a:ext cx="2569029" cy="2055223"/>
          </a:xfrm>
          <a:prstGeom prst="rect">
            <a:avLst/>
          </a:prstGeom>
        </p:spPr>
      </p:pic>
    </p:spTree>
    <p:extLst>
      <p:ext uri="{BB962C8B-B14F-4D97-AF65-F5344CB8AC3E}">
        <p14:creationId xmlns:p14="http://schemas.microsoft.com/office/powerpoint/2010/main" val="3788230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A1CBBF8-93EB-004C-9829-5C20BA22EFE0}"/>
              </a:ext>
            </a:extLst>
          </p:cNvPr>
          <p:cNvSpPr/>
          <p:nvPr/>
        </p:nvSpPr>
        <p:spPr>
          <a:xfrm>
            <a:off x="614813" y="397401"/>
            <a:ext cx="7914374" cy="6063198"/>
          </a:xfrm>
          <a:prstGeom prst="rect">
            <a:avLst/>
          </a:prstGeom>
        </p:spPr>
        <p:txBody>
          <a:bodyPr wrap="square">
            <a:spAutoFit/>
          </a:bodyPr>
          <a:lstStyle/>
          <a:p>
            <a:r>
              <a:rPr lang="fr-FR" sz="2400" b="1">
                <a:solidFill>
                  <a:srgbClr val="292D35"/>
                </a:solidFill>
                <a:latin typeface="Muli"/>
              </a:rPr>
              <a:t>Récentes activités</a:t>
            </a:r>
          </a:p>
          <a:p>
            <a:endParaRPr lang="fr-FR" sz="2400" b="1">
              <a:solidFill>
                <a:srgbClr val="292D35"/>
              </a:solidFill>
              <a:latin typeface="Muli"/>
            </a:endParaRPr>
          </a:p>
          <a:p>
            <a:pPr marL="285750" indent="-285750">
              <a:buFont typeface="Arial" panose="020B0604020202020204" pitchFamily="34" charset="0"/>
              <a:buChar char="•"/>
            </a:pPr>
            <a:r>
              <a:rPr lang="fr-FR" sz="2000">
                <a:solidFill>
                  <a:srgbClr val="292D35"/>
                </a:solidFill>
                <a:latin typeface="Muli"/>
              </a:rPr>
              <a:t>Évaluation finale du Projet DEMETER (DIFFUSION D’EXPERIENCES INNOVANTES DE GESTION PARTICIPATIVE MANGROVES ET TERRITOIRES) financé par l’Union Europeenne et mis en œuvre par Eclosio et le Collectif 5 Deltas (GRDR, Partenariat,…)</a:t>
            </a:r>
          </a:p>
          <a:p>
            <a:pPr marL="285750" indent="-285750">
              <a:buFont typeface="Arial" panose="020B0604020202020204" pitchFamily="34" charset="0"/>
              <a:buChar char="•"/>
            </a:pPr>
            <a:r>
              <a:rPr lang="fr-FR" sz="2000">
                <a:solidFill>
                  <a:srgbClr val="292D35"/>
                </a:solidFill>
                <a:latin typeface="Muli"/>
              </a:rPr>
              <a:t>Évaluation finale du projet Gouvernance Environnementale Communautaire au Senegal) financé par l’Union Europeenne et mis en œuvre par United Purpose  </a:t>
            </a:r>
          </a:p>
          <a:p>
            <a:pPr marL="285750" indent="-285750">
              <a:buFont typeface="Arial" panose="020B0604020202020204" pitchFamily="34" charset="0"/>
              <a:buChar char="•"/>
            </a:pPr>
            <a:r>
              <a:rPr lang="fr-FR" sz="2000">
                <a:solidFill>
                  <a:srgbClr val="292D35"/>
                </a:solidFill>
                <a:latin typeface="Muli"/>
              </a:rPr>
              <a:t>Conduite situation de reference d’un projet de l’USAID (Nafoore Warsadji) mis en oeuvre par Connexus une firme americaine et intervenant dans le domaine de l’horticulture au Senegal</a:t>
            </a:r>
          </a:p>
          <a:p>
            <a:pPr marL="285750" indent="-285750">
              <a:buFont typeface="Arial" panose="020B0604020202020204" pitchFamily="34" charset="0"/>
              <a:buChar char="•"/>
            </a:pPr>
            <a:r>
              <a:rPr lang="fr-FR" sz="2000">
                <a:solidFill>
                  <a:srgbClr val="292D35"/>
                </a:solidFill>
                <a:latin typeface="Muli"/>
              </a:rPr>
              <a:t>Conduite d’une Etude de Faisabilité pour la mise en place d’un Indice de Genre dans le secteur minier et extractif pour le compte de WIM Sénégal (Women In Mining) sur financement de Oxfam Burkina</a:t>
            </a:r>
          </a:p>
          <a:p>
            <a:pPr marL="285750" indent="-285750">
              <a:buFont typeface="Arial" panose="020B0604020202020204" pitchFamily="34" charset="0"/>
              <a:buChar char="•"/>
            </a:pPr>
            <a:r>
              <a:rPr lang="fr-FR" sz="2000">
                <a:solidFill>
                  <a:srgbClr val="292D35"/>
                </a:solidFill>
                <a:latin typeface="Muli"/>
              </a:rPr>
              <a:t>Definition d’un Plan Stratégique et Operationnel pour Women In Mining Sénégal </a:t>
            </a:r>
          </a:p>
          <a:p>
            <a:pPr marL="285750" indent="-285750">
              <a:buFont typeface="Arial" panose="020B0604020202020204" pitchFamily="34" charset="0"/>
              <a:buChar char="•"/>
            </a:pPr>
            <a:r>
              <a:rPr lang="fr-FR" sz="2000">
                <a:solidFill>
                  <a:srgbClr val="292D35"/>
                </a:solidFill>
                <a:latin typeface="Muli"/>
              </a:rPr>
              <a:t>Definition d’un Plan de Suivi et Évaluation pour Women In Mining Senegal</a:t>
            </a:r>
          </a:p>
        </p:txBody>
      </p:sp>
    </p:spTree>
    <p:extLst>
      <p:ext uri="{BB962C8B-B14F-4D97-AF65-F5344CB8AC3E}">
        <p14:creationId xmlns:p14="http://schemas.microsoft.com/office/powerpoint/2010/main" val="3525994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D387B-611E-124D-B580-95D658202FF3}"/>
              </a:ext>
            </a:extLst>
          </p:cNvPr>
          <p:cNvSpPr>
            <a:spLocks noGrp="1"/>
          </p:cNvSpPr>
          <p:nvPr>
            <p:ph type="title"/>
          </p:nvPr>
        </p:nvSpPr>
        <p:spPr>
          <a:xfrm>
            <a:off x="628650" y="365126"/>
            <a:ext cx="7886700" cy="593341"/>
          </a:xfrm>
        </p:spPr>
        <p:txBody>
          <a:bodyPr>
            <a:normAutofit/>
          </a:bodyPr>
          <a:lstStyle/>
          <a:p>
            <a:pPr algn="ctr"/>
            <a:r>
              <a:rPr lang="en-GH" sz="3200" b="1" dirty="0">
                <a:solidFill>
                  <a:srgbClr val="C00000"/>
                </a:solidFill>
                <a:latin typeface="Bodoni MT" panose="020F0502020204030204" pitchFamily="34" charset="0"/>
              </a:rPr>
              <a:t>Contenu</a:t>
            </a:r>
          </a:p>
        </p:txBody>
      </p:sp>
      <p:sp>
        <p:nvSpPr>
          <p:cNvPr id="3" name="Content Placeholder 2">
            <a:extLst>
              <a:ext uri="{FF2B5EF4-FFF2-40B4-BE49-F238E27FC236}">
                <a16:creationId xmlns:a16="http://schemas.microsoft.com/office/drawing/2014/main" id="{DDD39519-2C83-554C-B83E-3DB1BD8C863B}"/>
              </a:ext>
            </a:extLst>
          </p:cNvPr>
          <p:cNvSpPr>
            <a:spLocks noGrp="1"/>
          </p:cNvSpPr>
          <p:nvPr>
            <p:ph idx="1"/>
          </p:nvPr>
        </p:nvSpPr>
        <p:spPr>
          <a:xfrm>
            <a:off x="1235528" y="1371600"/>
            <a:ext cx="6672943" cy="4315506"/>
          </a:xfrm>
        </p:spPr>
        <p:txBody>
          <a:bodyPr>
            <a:normAutofit/>
          </a:bodyPr>
          <a:lstStyle/>
          <a:p>
            <a:pPr>
              <a:buFont typeface="Wingdings" pitchFamily="2" charset="2"/>
              <a:buChar char="q"/>
            </a:pPr>
            <a:r>
              <a:rPr lang="en-GH" sz="2000" dirty="0"/>
              <a:t>Le Cadre General</a:t>
            </a:r>
          </a:p>
          <a:p>
            <a:pPr>
              <a:buFont typeface="Wingdings" pitchFamily="2" charset="2"/>
              <a:buChar char="q"/>
            </a:pPr>
            <a:r>
              <a:rPr lang="en-GH" sz="2000" dirty="0"/>
              <a:t>Les Indicateurs</a:t>
            </a:r>
          </a:p>
          <a:p>
            <a:pPr>
              <a:buFont typeface="Wingdings" pitchFamily="2" charset="2"/>
              <a:buChar char="q"/>
            </a:pPr>
            <a:r>
              <a:rPr lang="en-GH" sz="2000" dirty="0"/>
              <a:t>La Documentation</a:t>
            </a:r>
          </a:p>
          <a:p>
            <a:pPr>
              <a:buFont typeface="Wingdings" pitchFamily="2" charset="2"/>
              <a:buChar char="q"/>
            </a:pPr>
            <a:r>
              <a:rPr lang="en-GH" sz="2000" dirty="0"/>
              <a:t>Parametrage du Systéme</a:t>
            </a:r>
          </a:p>
          <a:p>
            <a:pPr>
              <a:buFont typeface="Wingdings" pitchFamily="2" charset="2"/>
              <a:buChar char="q"/>
            </a:pPr>
            <a:r>
              <a:rPr lang="en-GH" sz="2000" dirty="0"/>
              <a:t>La Gestion du Portefeuille de projets</a:t>
            </a:r>
          </a:p>
          <a:p>
            <a:pPr>
              <a:buFont typeface="Wingdings" pitchFamily="2" charset="2"/>
              <a:buChar char="q"/>
            </a:pPr>
            <a:r>
              <a:rPr lang="en-GH" sz="2000" dirty="0"/>
              <a:t>La Gestion d’un Projet</a:t>
            </a:r>
          </a:p>
          <a:p>
            <a:pPr>
              <a:buFont typeface="Wingdings" pitchFamily="2" charset="2"/>
              <a:buChar char="q"/>
            </a:pPr>
            <a:r>
              <a:rPr lang="en-GH" sz="2000" dirty="0"/>
              <a:t>La Planification d’un Projet</a:t>
            </a:r>
          </a:p>
          <a:p>
            <a:pPr>
              <a:buFont typeface="Wingdings" pitchFamily="2" charset="2"/>
              <a:buChar char="q"/>
            </a:pPr>
            <a:r>
              <a:rPr lang="en-GH" sz="2000" dirty="0"/>
              <a:t>Le Suivi de l’Exécution d’un Projet</a:t>
            </a:r>
          </a:p>
          <a:p>
            <a:pPr>
              <a:buFont typeface="Wingdings" pitchFamily="2" charset="2"/>
              <a:buChar char="q"/>
            </a:pPr>
            <a:r>
              <a:rPr lang="en-GH" sz="2000" dirty="0"/>
              <a:t>L’Evaluation d’un Projet</a:t>
            </a:r>
          </a:p>
          <a:p>
            <a:pPr>
              <a:buFont typeface="Wingdings" pitchFamily="2" charset="2"/>
              <a:buChar char="q"/>
            </a:pPr>
            <a:endParaRPr lang="en-GH" sz="2000" dirty="0"/>
          </a:p>
          <a:p>
            <a:pPr>
              <a:buFont typeface="Wingdings" pitchFamily="2" charset="2"/>
              <a:buChar char="q"/>
            </a:pPr>
            <a:endParaRPr lang="en-GH" sz="2000" dirty="0"/>
          </a:p>
        </p:txBody>
      </p:sp>
    </p:spTree>
    <p:extLst>
      <p:ext uri="{BB962C8B-B14F-4D97-AF65-F5344CB8AC3E}">
        <p14:creationId xmlns:p14="http://schemas.microsoft.com/office/powerpoint/2010/main" val="433722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86DEFB28-FFFC-3C4F-BBFB-D6B8B5A6280A}"/>
              </a:ext>
            </a:extLst>
          </p:cNvPr>
          <p:cNvSpPr txBox="1"/>
          <p:nvPr/>
        </p:nvSpPr>
        <p:spPr>
          <a:xfrm>
            <a:off x="628650" y="1300825"/>
            <a:ext cx="7557571" cy="369332"/>
          </a:xfrm>
          <a:prstGeom prst="rect">
            <a:avLst/>
          </a:prstGeom>
          <a:noFill/>
        </p:spPr>
        <p:txBody>
          <a:bodyPr wrap="square" rtlCol="0">
            <a:spAutoFit/>
          </a:bodyPr>
          <a:lstStyle/>
          <a:p>
            <a:r>
              <a:rPr lang="en-GH" dirty="0">
                <a:latin typeface="Cavolini" panose="03000502040302020204" pitchFamily="66" charset="0"/>
                <a:cs typeface="Cavolini" panose="03000502040302020204" pitchFamily="66" charset="0"/>
              </a:rPr>
              <a:t>Données Techniques</a:t>
            </a:r>
          </a:p>
        </p:txBody>
      </p:sp>
      <p:sp>
        <p:nvSpPr>
          <p:cNvPr id="11" name="TextBox 10">
            <a:extLst>
              <a:ext uri="{FF2B5EF4-FFF2-40B4-BE49-F238E27FC236}">
                <a16:creationId xmlns:a16="http://schemas.microsoft.com/office/drawing/2014/main" id="{6F7D07F6-5069-9147-91BD-DB4EB9DE8AD6}"/>
              </a:ext>
            </a:extLst>
          </p:cNvPr>
          <p:cNvSpPr txBox="1"/>
          <p:nvPr/>
        </p:nvSpPr>
        <p:spPr>
          <a:xfrm>
            <a:off x="628650" y="1926189"/>
            <a:ext cx="7180326" cy="1200329"/>
          </a:xfrm>
          <a:prstGeom prst="rect">
            <a:avLst/>
          </a:prstGeom>
          <a:noFill/>
        </p:spPr>
        <p:txBody>
          <a:bodyPr wrap="square" rtlCol="0">
            <a:spAutoFit/>
          </a:bodyPr>
          <a:lstStyle/>
          <a:p>
            <a:r>
              <a:rPr lang="en-GH" dirty="0"/>
              <a:t>Plateforme Web</a:t>
            </a:r>
          </a:p>
          <a:p>
            <a:r>
              <a:rPr lang="en-GH" dirty="0"/>
              <a:t>Language de programmation: PHP5+, HTML5, Jquery, Bootstrap</a:t>
            </a:r>
          </a:p>
          <a:p>
            <a:r>
              <a:rPr lang="en-GH" dirty="0"/>
              <a:t>SGBD: MySql 5.6</a:t>
            </a:r>
          </a:p>
          <a:p>
            <a:r>
              <a:rPr lang="en-GH" dirty="0"/>
              <a:t>Serveur Web: Apache</a:t>
            </a:r>
          </a:p>
        </p:txBody>
      </p:sp>
      <p:sp>
        <p:nvSpPr>
          <p:cNvPr id="5" name="Title 1">
            <a:extLst>
              <a:ext uri="{FF2B5EF4-FFF2-40B4-BE49-F238E27FC236}">
                <a16:creationId xmlns:a16="http://schemas.microsoft.com/office/drawing/2014/main" id="{EC91E9BA-3DD1-6C42-B0C5-754F0FD247B9}"/>
              </a:ext>
            </a:extLst>
          </p:cNvPr>
          <p:cNvSpPr>
            <a:spLocks noGrp="1"/>
          </p:cNvSpPr>
          <p:nvPr>
            <p:ph type="title"/>
          </p:nvPr>
        </p:nvSpPr>
        <p:spPr>
          <a:xfrm>
            <a:off x="628650" y="365126"/>
            <a:ext cx="7886700" cy="593341"/>
          </a:xfrm>
        </p:spPr>
        <p:txBody>
          <a:bodyPr>
            <a:normAutofit/>
          </a:bodyPr>
          <a:lstStyle/>
          <a:p>
            <a:r>
              <a:rPr lang="en-GH" sz="2800" b="1" dirty="0">
                <a:solidFill>
                  <a:schemeClr val="tx2">
                    <a:lumMod val="60000"/>
                    <a:lumOff val="40000"/>
                  </a:schemeClr>
                </a:solidFill>
                <a:latin typeface="Bodoni MT" panose="020F0502020204030204" pitchFamily="34" charset="0"/>
              </a:rPr>
              <a:t>CADRE GENERAL</a:t>
            </a:r>
          </a:p>
        </p:txBody>
      </p:sp>
    </p:spTree>
    <p:extLst>
      <p:ext uri="{BB962C8B-B14F-4D97-AF65-F5344CB8AC3E}">
        <p14:creationId xmlns:p14="http://schemas.microsoft.com/office/powerpoint/2010/main" val="3701775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Graphical user interface, application&#10;&#10;Description automatically generated">
            <a:extLst>
              <a:ext uri="{FF2B5EF4-FFF2-40B4-BE49-F238E27FC236}">
                <a16:creationId xmlns:a16="http://schemas.microsoft.com/office/drawing/2014/main" id="{AAAF4D65-C59E-2F42-8C03-D4C8585B2846}"/>
              </a:ext>
            </a:extLst>
          </p:cNvPr>
          <p:cNvPicPr>
            <a:picLocks noChangeAspect="1"/>
          </p:cNvPicPr>
          <p:nvPr/>
        </p:nvPicPr>
        <p:blipFill>
          <a:blip r:embed="rId3"/>
          <a:stretch>
            <a:fillRect/>
          </a:stretch>
        </p:blipFill>
        <p:spPr>
          <a:xfrm>
            <a:off x="1175301" y="2480110"/>
            <a:ext cx="6793397" cy="3636192"/>
          </a:xfrm>
          <a:prstGeom prst="rect">
            <a:avLst/>
          </a:prstGeom>
        </p:spPr>
      </p:pic>
      <p:sp>
        <p:nvSpPr>
          <p:cNvPr id="10" name="TextBox 9">
            <a:extLst>
              <a:ext uri="{FF2B5EF4-FFF2-40B4-BE49-F238E27FC236}">
                <a16:creationId xmlns:a16="http://schemas.microsoft.com/office/drawing/2014/main" id="{86DEFB28-FFFC-3C4F-BBFB-D6B8B5A6280A}"/>
              </a:ext>
            </a:extLst>
          </p:cNvPr>
          <p:cNvSpPr txBox="1"/>
          <p:nvPr/>
        </p:nvSpPr>
        <p:spPr>
          <a:xfrm>
            <a:off x="628650" y="977881"/>
            <a:ext cx="7557571" cy="369332"/>
          </a:xfrm>
          <a:prstGeom prst="rect">
            <a:avLst/>
          </a:prstGeom>
          <a:noFill/>
        </p:spPr>
        <p:txBody>
          <a:bodyPr wrap="square" rtlCol="0">
            <a:spAutoFit/>
          </a:bodyPr>
          <a:lstStyle/>
          <a:p>
            <a:r>
              <a:rPr lang="en-GH" dirty="0">
                <a:latin typeface="Cavolini" panose="03000502040302020204" pitchFamily="66" charset="0"/>
                <a:cs typeface="Cavolini" panose="03000502040302020204" pitchFamily="66" charset="0"/>
              </a:rPr>
              <a:t>Accéder a la Plateforme Web de Suivi Evaluation</a:t>
            </a:r>
          </a:p>
        </p:txBody>
      </p:sp>
      <p:sp>
        <p:nvSpPr>
          <p:cNvPr id="11" name="TextBox 10">
            <a:extLst>
              <a:ext uri="{FF2B5EF4-FFF2-40B4-BE49-F238E27FC236}">
                <a16:creationId xmlns:a16="http://schemas.microsoft.com/office/drawing/2014/main" id="{6F7D07F6-5069-9147-91BD-DB4EB9DE8AD6}"/>
              </a:ext>
            </a:extLst>
          </p:cNvPr>
          <p:cNvSpPr txBox="1"/>
          <p:nvPr/>
        </p:nvSpPr>
        <p:spPr>
          <a:xfrm>
            <a:off x="628650" y="1487277"/>
            <a:ext cx="8090915" cy="646331"/>
          </a:xfrm>
          <a:prstGeom prst="rect">
            <a:avLst/>
          </a:prstGeom>
          <a:noFill/>
        </p:spPr>
        <p:txBody>
          <a:bodyPr wrap="square" rtlCol="0">
            <a:spAutoFit/>
          </a:bodyPr>
          <a:lstStyle/>
          <a:p>
            <a:r>
              <a:rPr lang="en-GB" b="1" dirty="0">
                <a:solidFill>
                  <a:srgbClr val="FF0000"/>
                </a:solidFill>
              </a:rPr>
              <a:t>Y</a:t>
            </a:r>
            <a:r>
              <a:rPr lang="en-GH" b="1" dirty="0">
                <a:solidFill>
                  <a:srgbClr val="FF0000"/>
                </a:solidFill>
              </a:rPr>
              <a:t>atamala.net </a:t>
            </a:r>
          </a:p>
          <a:p>
            <a:r>
              <a:rPr lang="en-GH" dirty="0"/>
              <a:t>Adresse temporaire. Plateforme transférée dans les serveurs de Oxfam</a:t>
            </a:r>
          </a:p>
        </p:txBody>
      </p:sp>
      <p:sp>
        <p:nvSpPr>
          <p:cNvPr id="5" name="Title 1">
            <a:extLst>
              <a:ext uri="{FF2B5EF4-FFF2-40B4-BE49-F238E27FC236}">
                <a16:creationId xmlns:a16="http://schemas.microsoft.com/office/drawing/2014/main" id="{EC91E9BA-3DD1-6C42-B0C5-754F0FD247B9}"/>
              </a:ext>
            </a:extLst>
          </p:cNvPr>
          <p:cNvSpPr>
            <a:spLocks noGrp="1"/>
          </p:cNvSpPr>
          <p:nvPr>
            <p:ph type="title"/>
          </p:nvPr>
        </p:nvSpPr>
        <p:spPr>
          <a:xfrm>
            <a:off x="628650" y="365126"/>
            <a:ext cx="7886700" cy="593341"/>
          </a:xfrm>
        </p:spPr>
        <p:txBody>
          <a:bodyPr>
            <a:normAutofit/>
          </a:bodyPr>
          <a:lstStyle/>
          <a:p>
            <a:r>
              <a:rPr lang="en-GH" sz="2800" b="1" dirty="0">
                <a:solidFill>
                  <a:schemeClr val="tx2">
                    <a:lumMod val="60000"/>
                    <a:lumOff val="40000"/>
                  </a:schemeClr>
                </a:solidFill>
                <a:latin typeface="Bodoni MT" panose="020F0502020204030204" pitchFamily="34" charset="0"/>
              </a:rPr>
              <a:t>CADRE GENERAL</a:t>
            </a:r>
          </a:p>
        </p:txBody>
      </p:sp>
    </p:spTree>
    <p:extLst>
      <p:ext uri="{BB962C8B-B14F-4D97-AF65-F5344CB8AC3E}">
        <p14:creationId xmlns:p14="http://schemas.microsoft.com/office/powerpoint/2010/main" val="964994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6D2AA-A795-BF4D-9290-008B39EF3349}"/>
              </a:ext>
            </a:extLst>
          </p:cNvPr>
          <p:cNvSpPr>
            <a:spLocks noGrp="1"/>
          </p:cNvSpPr>
          <p:nvPr>
            <p:ph type="title"/>
          </p:nvPr>
        </p:nvSpPr>
        <p:spPr>
          <a:xfrm>
            <a:off x="628650" y="1767251"/>
            <a:ext cx="4690859" cy="369332"/>
          </a:xfrm>
        </p:spPr>
        <p:txBody>
          <a:bodyPr>
            <a:normAutofit/>
          </a:bodyPr>
          <a:lstStyle/>
          <a:p>
            <a:r>
              <a:rPr lang="en-GH" sz="1600" dirty="0">
                <a:solidFill>
                  <a:schemeClr val="tx1"/>
                </a:solidFill>
              </a:rPr>
              <a:t>TABLEAU DE BORD (DASHBOARD)</a:t>
            </a:r>
          </a:p>
        </p:txBody>
      </p:sp>
      <p:pic>
        <p:nvPicPr>
          <p:cNvPr id="5" name="Content Placeholder 4" descr="Graphical user interface, text&#10;&#10;Description automatically generated">
            <a:extLst>
              <a:ext uri="{FF2B5EF4-FFF2-40B4-BE49-F238E27FC236}">
                <a16:creationId xmlns:a16="http://schemas.microsoft.com/office/drawing/2014/main" id="{77E24C4D-864A-AF4D-A891-45B5B3BE89AF}"/>
              </a:ext>
            </a:extLst>
          </p:cNvPr>
          <p:cNvPicPr>
            <a:picLocks noChangeAspect="1"/>
          </p:cNvPicPr>
          <p:nvPr/>
        </p:nvPicPr>
        <p:blipFill>
          <a:blip r:embed="rId2"/>
          <a:stretch>
            <a:fillRect/>
          </a:stretch>
        </p:blipFill>
        <p:spPr>
          <a:xfrm>
            <a:off x="628650" y="2217002"/>
            <a:ext cx="7886700" cy="4160234"/>
          </a:xfrm>
          <a:prstGeom prst="rect">
            <a:avLst/>
          </a:prstGeom>
        </p:spPr>
      </p:pic>
      <p:sp>
        <p:nvSpPr>
          <p:cNvPr id="17" name="TextBox 16">
            <a:extLst>
              <a:ext uri="{FF2B5EF4-FFF2-40B4-BE49-F238E27FC236}">
                <a16:creationId xmlns:a16="http://schemas.microsoft.com/office/drawing/2014/main" id="{7E964EE2-6B9E-724E-AD91-72FD347EA371}"/>
              </a:ext>
            </a:extLst>
          </p:cNvPr>
          <p:cNvSpPr txBox="1"/>
          <p:nvPr/>
        </p:nvSpPr>
        <p:spPr>
          <a:xfrm>
            <a:off x="628650" y="958467"/>
            <a:ext cx="7886700" cy="584775"/>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Définir une vue synthetique des performances des projets et programmes</a:t>
            </a:r>
          </a:p>
        </p:txBody>
      </p:sp>
      <p:sp>
        <p:nvSpPr>
          <p:cNvPr id="6" name="Title 1">
            <a:extLst>
              <a:ext uri="{FF2B5EF4-FFF2-40B4-BE49-F238E27FC236}">
                <a16:creationId xmlns:a16="http://schemas.microsoft.com/office/drawing/2014/main" id="{62C613A5-F9F1-5549-9D78-785B96671263}"/>
              </a:ext>
            </a:extLst>
          </p:cNvPr>
          <p:cNvSpPr txBox="1">
            <a:spLocks/>
          </p:cNvSpPr>
          <p:nvPr/>
        </p:nvSpPr>
        <p:spPr>
          <a:xfrm>
            <a:off x="628650" y="365126"/>
            <a:ext cx="7886700" cy="593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H" sz="2800" b="1">
                <a:solidFill>
                  <a:schemeClr val="tx2">
                    <a:lumMod val="60000"/>
                    <a:lumOff val="40000"/>
                  </a:schemeClr>
                </a:solidFill>
                <a:latin typeface="Bodoni MT" panose="020F0502020204030204" pitchFamily="34" charset="0"/>
              </a:rPr>
              <a:t>CADRE GENERAL</a:t>
            </a:r>
            <a:endParaRPr lang="en-GH" sz="2800" b="1" dirty="0">
              <a:solidFill>
                <a:schemeClr val="tx2">
                  <a:lumMod val="60000"/>
                  <a:lumOff val="40000"/>
                </a:schemeClr>
              </a:solidFill>
              <a:latin typeface="Bodoni MT" panose="020F0502020204030204" pitchFamily="34" charset="0"/>
            </a:endParaRPr>
          </a:p>
        </p:txBody>
      </p:sp>
    </p:spTree>
    <p:extLst>
      <p:ext uri="{BB962C8B-B14F-4D97-AF65-F5344CB8AC3E}">
        <p14:creationId xmlns:p14="http://schemas.microsoft.com/office/powerpoint/2010/main" val="1814813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6D2AA-A795-BF4D-9290-008B39EF3349}"/>
              </a:ext>
            </a:extLst>
          </p:cNvPr>
          <p:cNvSpPr>
            <a:spLocks noGrp="1"/>
          </p:cNvSpPr>
          <p:nvPr>
            <p:ph type="title"/>
          </p:nvPr>
        </p:nvSpPr>
        <p:spPr>
          <a:xfrm>
            <a:off x="628650" y="1767251"/>
            <a:ext cx="4690859" cy="369332"/>
          </a:xfrm>
        </p:spPr>
        <p:txBody>
          <a:bodyPr>
            <a:normAutofit/>
          </a:bodyPr>
          <a:lstStyle/>
          <a:p>
            <a:r>
              <a:rPr lang="en-GH" sz="1600" dirty="0">
                <a:solidFill>
                  <a:schemeClr val="tx1"/>
                </a:solidFill>
              </a:rPr>
              <a:t>TABLEAU DE BORD (DASHBOARD) PROJETS</a:t>
            </a:r>
          </a:p>
        </p:txBody>
      </p:sp>
      <p:sp>
        <p:nvSpPr>
          <p:cNvPr id="17" name="TextBox 16">
            <a:extLst>
              <a:ext uri="{FF2B5EF4-FFF2-40B4-BE49-F238E27FC236}">
                <a16:creationId xmlns:a16="http://schemas.microsoft.com/office/drawing/2014/main" id="{7E964EE2-6B9E-724E-AD91-72FD347EA371}"/>
              </a:ext>
            </a:extLst>
          </p:cNvPr>
          <p:cNvSpPr txBox="1"/>
          <p:nvPr/>
        </p:nvSpPr>
        <p:spPr>
          <a:xfrm>
            <a:off x="628650" y="958467"/>
            <a:ext cx="7886700" cy="584775"/>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Définir une vue synthetique des performances des projets et programmes</a:t>
            </a:r>
          </a:p>
        </p:txBody>
      </p:sp>
      <p:sp>
        <p:nvSpPr>
          <p:cNvPr id="6" name="Title 1">
            <a:extLst>
              <a:ext uri="{FF2B5EF4-FFF2-40B4-BE49-F238E27FC236}">
                <a16:creationId xmlns:a16="http://schemas.microsoft.com/office/drawing/2014/main" id="{62C613A5-F9F1-5549-9D78-785B96671263}"/>
              </a:ext>
            </a:extLst>
          </p:cNvPr>
          <p:cNvSpPr txBox="1">
            <a:spLocks/>
          </p:cNvSpPr>
          <p:nvPr/>
        </p:nvSpPr>
        <p:spPr>
          <a:xfrm>
            <a:off x="628650" y="365126"/>
            <a:ext cx="7886700" cy="593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H" sz="2800" b="1">
                <a:solidFill>
                  <a:schemeClr val="tx2">
                    <a:lumMod val="60000"/>
                    <a:lumOff val="40000"/>
                  </a:schemeClr>
                </a:solidFill>
                <a:latin typeface="Bodoni MT" panose="020F0502020204030204" pitchFamily="34" charset="0"/>
              </a:rPr>
              <a:t>CADRE GENERAL</a:t>
            </a:r>
            <a:endParaRPr lang="en-GH" sz="2800" b="1" dirty="0">
              <a:solidFill>
                <a:schemeClr val="tx2">
                  <a:lumMod val="60000"/>
                  <a:lumOff val="40000"/>
                </a:schemeClr>
              </a:solidFill>
              <a:latin typeface="Bodoni MT" panose="020F0502020204030204" pitchFamily="34" charset="0"/>
            </a:endParaRPr>
          </a:p>
        </p:txBody>
      </p:sp>
      <p:pic>
        <p:nvPicPr>
          <p:cNvPr id="4" name="Picture 3" descr="Graphical user interface&#10;&#10;Description automatically generated">
            <a:extLst>
              <a:ext uri="{FF2B5EF4-FFF2-40B4-BE49-F238E27FC236}">
                <a16:creationId xmlns:a16="http://schemas.microsoft.com/office/drawing/2014/main" id="{214D64E8-E7C0-C14D-9358-0ADFEE59043C}"/>
              </a:ext>
            </a:extLst>
          </p:cNvPr>
          <p:cNvPicPr>
            <a:picLocks noChangeAspect="1"/>
          </p:cNvPicPr>
          <p:nvPr/>
        </p:nvPicPr>
        <p:blipFill>
          <a:blip r:embed="rId2"/>
          <a:stretch>
            <a:fillRect/>
          </a:stretch>
        </p:blipFill>
        <p:spPr>
          <a:xfrm>
            <a:off x="495300" y="2301620"/>
            <a:ext cx="8153400" cy="3368512"/>
          </a:xfrm>
          <a:prstGeom prst="rect">
            <a:avLst/>
          </a:prstGeom>
        </p:spPr>
      </p:pic>
    </p:spTree>
    <p:extLst>
      <p:ext uri="{BB962C8B-B14F-4D97-AF65-F5344CB8AC3E}">
        <p14:creationId xmlns:p14="http://schemas.microsoft.com/office/powerpoint/2010/main" val="4161138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F7C16E2E-3291-904B-9A37-E8C581682BFE}"/>
              </a:ext>
            </a:extLst>
          </p:cNvPr>
          <p:cNvPicPr>
            <a:picLocks noChangeAspect="1"/>
          </p:cNvPicPr>
          <p:nvPr/>
        </p:nvPicPr>
        <p:blipFill>
          <a:blip r:embed="rId2"/>
          <a:stretch>
            <a:fillRect/>
          </a:stretch>
        </p:blipFill>
        <p:spPr>
          <a:xfrm>
            <a:off x="583275" y="1649540"/>
            <a:ext cx="7981907" cy="4185203"/>
          </a:xfrm>
          <a:prstGeom prst="rect">
            <a:avLst/>
          </a:prstGeom>
        </p:spPr>
      </p:pic>
      <p:sp>
        <p:nvSpPr>
          <p:cNvPr id="5" name="TextBox 4">
            <a:extLst>
              <a:ext uri="{FF2B5EF4-FFF2-40B4-BE49-F238E27FC236}">
                <a16:creationId xmlns:a16="http://schemas.microsoft.com/office/drawing/2014/main" id="{7F4BF6A2-4AAE-8D4E-A9F9-8F466C34ECA3}"/>
              </a:ext>
            </a:extLst>
          </p:cNvPr>
          <p:cNvSpPr txBox="1"/>
          <p:nvPr/>
        </p:nvSpPr>
        <p:spPr>
          <a:xfrm>
            <a:off x="628650" y="1108483"/>
            <a:ext cx="7728619"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Définir le Cadre Stratégique de Oxfam</a:t>
            </a:r>
          </a:p>
        </p:txBody>
      </p:sp>
      <p:sp>
        <p:nvSpPr>
          <p:cNvPr id="4" name="Title 1">
            <a:extLst>
              <a:ext uri="{FF2B5EF4-FFF2-40B4-BE49-F238E27FC236}">
                <a16:creationId xmlns:a16="http://schemas.microsoft.com/office/drawing/2014/main" id="{24F52307-51C3-254B-BF33-B5A4EDE9A45C}"/>
              </a:ext>
            </a:extLst>
          </p:cNvPr>
          <p:cNvSpPr>
            <a:spLocks noGrp="1"/>
          </p:cNvSpPr>
          <p:nvPr>
            <p:ph type="title"/>
          </p:nvPr>
        </p:nvSpPr>
        <p:spPr>
          <a:xfrm>
            <a:off x="628650" y="365126"/>
            <a:ext cx="7886700" cy="593341"/>
          </a:xfrm>
        </p:spPr>
        <p:txBody>
          <a:bodyPr>
            <a:normAutofit/>
          </a:bodyPr>
          <a:lstStyle/>
          <a:p>
            <a:r>
              <a:rPr lang="en-GH" sz="2800" b="1" dirty="0">
                <a:solidFill>
                  <a:schemeClr val="tx2">
                    <a:lumMod val="60000"/>
                    <a:lumOff val="40000"/>
                  </a:schemeClr>
                </a:solidFill>
                <a:latin typeface="Bodoni MT" panose="020F0502020204030204" pitchFamily="34" charset="0"/>
              </a:rPr>
              <a:t>CADRE GENERAL</a:t>
            </a:r>
          </a:p>
        </p:txBody>
      </p:sp>
    </p:spTree>
    <p:extLst>
      <p:ext uri="{BB962C8B-B14F-4D97-AF65-F5344CB8AC3E}">
        <p14:creationId xmlns:p14="http://schemas.microsoft.com/office/powerpoint/2010/main" val="2959383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3627638-632B-4E40-9E47-5131F91C960B}"/>
              </a:ext>
            </a:extLst>
          </p:cNvPr>
          <p:cNvPicPr>
            <a:picLocks noGrp="1" noChangeAspect="1"/>
          </p:cNvPicPr>
          <p:nvPr>
            <p:ph idx="1"/>
          </p:nvPr>
        </p:nvPicPr>
        <p:blipFill>
          <a:blip r:embed="rId2"/>
          <a:stretch>
            <a:fillRect/>
          </a:stretch>
        </p:blipFill>
        <p:spPr>
          <a:xfrm>
            <a:off x="628649" y="1629784"/>
            <a:ext cx="7980055" cy="4248502"/>
          </a:xfrm>
        </p:spPr>
      </p:pic>
      <p:sp>
        <p:nvSpPr>
          <p:cNvPr id="7" name="TextBox 6">
            <a:extLst>
              <a:ext uri="{FF2B5EF4-FFF2-40B4-BE49-F238E27FC236}">
                <a16:creationId xmlns:a16="http://schemas.microsoft.com/office/drawing/2014/main" id="{1F77139A-B1A1-1E4F-92D2-41978876565A}"/>
              </a:ext>
            </a:extLst>
          </p:cNvPr>
          <p:cNvSpPr txBox="1"/>
          <p:nvPr/>
        </p:nvSpPr>
        <p:spPr>
          <a:xfrm>
            <a:off x="628650" y="1068349"/>
            <a:ext cx="7728619"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Présentation des Indicateurs de Oxfam</a:t>
            </a:r>
          </a:p>
        </p:txBody>
      </p:sp>
      <p:sp>
        <p:nvSpPr>
          <p:cNvPr id="8" name="Title 1">
            <a:extLst>
              <a:ext uri="{FF2B5EF4-FFF2-40B4-BE49-F238E27FC236}">
                <a16:creationId xmlns:a16="http://schemas.microsoft.com/office/drawing/2014/main" id="{BEE0CC0D-6005-A049-84CB-C606DB4A8816}"/>
              </a:ext>
            </a:extLst>
          </p:cNvPr>
          <p:cNvSpPr>
            <a:spLocks noGrp="1"/>
          </p:cNvSpPr>
          <p:nvPr>
            <p:ph type="title"/>
          </p:nvPr>
        </p:nvSpPr>
        <p:spPr>
          <a:xfrm>
            <a:off x="628650" y="365126"/>
            <a:ext cx="7886700" cy="593341"/>
          </a:xfrm>
        </p:spPr>
        <p:txBody>
          <a:bodyPr>
            <a:normAutofit/>
          </a:bodyPr>
          <a:lstStyle/>
          <a:p>
            <a:r>
              <a:rPr lang="en-GH" sz="2800" b="1" dirty="0">
                <a:solidFill>
                  <a:schemeClr val="tx2">
                    <a:lumMod val="60000"/>
                    <a:lumOff val="40000"/>
                  </a:schemeClr>
                </a:solidFill>
                <a:latin typeface="Bodoni MT" panose="020F0502020204030204" pitchFamily="34" charset="0"/>
              </a:rPr>
              <a:t>LES INDICATEURS</a:t>
            </a:r>
          </a:p>
        </p:txBody>
      </p:sp>
    </p:spTree>
    <p:extLst>
      <p:ext uri="{BB962C8B-B14F-4D97-AF65-F5344CB8AC3E}">
        <p14:creationId xmlns:p14="http://schemas.microsoft.com/office/powerpoint/2010/main" val="702957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 screenshot, indoor&#10;&#10;Description automatically generated">
            <a:extLst>
              <a:ext uri="{FF2B5EF4-FFF2-40B4-BE49-F238E27FC236}">
                <a16:creationId xmlns:a16="http://schemas.microsoft.com/office/drawing/2014/main" id="{4EADF4CD-91F0-274D-9E71-352F4B19C8A9}"/>
              </a:ext>
            </a:extLst>
          </p:cNvPr>
          <p:cNvPicPr>
            <a:picLocks noChangeAspect="1"/>
          </p:cNvPicPr>
          <p:nvPr/>
        </p:nvPicPr>
        <p:blipFill>
          <a:blip r:embed="rId3"/>
          <a:stretch>
            <a:fillRect/>
          </a:stretch>
        </p:blipFill>
        <p:spPr>
          <a:xfrm>
            <a:off x="2993311" y="2180750"/>
            <a:ext cx="5831200" cy="3751032"/>
          </a:xfrm>
          <a:prstGeom prst="rect">
            <a:avLst/>
          </a:prstGeom>
        </p:spPr>
      </p:pic>
      <p:sp>
        <p:nvSpPr>
          <p:cNvPr id="6" name="TextBox 5">
            <a:extLst>
              <a:ext uri="{FF2B5EF4-FFF2-40B4-BE49-F238E27FC236}">
                <a16:creationId xmlns:a16="http://schemas.microsoft.com/office/drawing/2014/main" id="{BFD89E61-9FA1-894A-9348-E5C22682D11F}"/>
              </a:ext>
            </a:extLst>
          </p:cNvPr>
          <p:cNvSpPr txBox="1"/>
          <p:nvPr/>
        </p:nvSpPr>
        <p:spPr>
          <a:xfrm>
            <a:off x="586174" y="1190861"/>
            <a:ext cx="7728619"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Créer de nouveaux des Indicateurs</a:t>
            </a:r>
          </a:p>
        </p:txBody>
      </p:sp>
      <p:pic>
        <p:nvPicPr>
          <p:cNvPr id="7" name="Content Placeholder 5">
            <a:extLst>
              <a:ext uri="{FF2B5EF4-FFF2-40B4-BE49-F238E27FC236}">
                <a16:creationId xmlns:a16="http://schemas.microsoft.com/office/drawing/2014/main" id="{1E7B212B-A72D-3C4A-9B9E-90C1D6E77C89}"/>
              </a:ext>
            </a:extLst>
          </p:cNvPr>
          <p:cNvPicPr>
            <a:picLocks noGrp="1" noChangeAspect="1"/>
          </p:cNvPicPr>
          <p:nvPr>
            <p:ph idx="1"/>
          </p:nvPr>
        </p:nvPicPr>
        <p:blipFill rotWithShape="1">
          <a:blip r:embed="rId4"/>
          <a:srcRect l="75475" t="15291" b="58264"/>
          <a:stretch/>
        </p:blipFill>
        <p:spPr>
          <a:xfrm>
            <a:off x="408077" y="2180750"/>
            <a:ext cx="1916246" cy="1100057"/>
          </a:xfrm>
        </p:spPr>
      </p:pic>
      <p:sp>
        <p:nvSpPr>
          <p:cNvPr id="8" name="Oval 7">
            <a:extLst>
              <a:ext uri="{FF2B5EF4-FFF2-40B4-BE49-F238E27FC236}">
                <a16:creationId xmlns:a16="http://schemas.microsoft.com/office/drawing/2014/main" id="{9561190C-FCE6-C14D-AAB4-84F3DC68FD45}"/>
              </a:ext>
            </a:extLst>
          </p:cNvPr>
          <p:cNvSpPr/>
          <p:nvPr/>
        </p:nvSpPr>
        <p:spPr>
          <a:xfrm>
            <a:off x="1024569" y="2523398"/>
            <a:ext cx="1366092" cy="75740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cxnSp>
        <p:nvCxnSpPr>
          <p:cNvPr id="10" name="Straight Arrow Connector 9">
            <a:extLst>
              <a:ext uri="{FF2B5EF4-FFF2-40B4-BE49-F238E27FC236}">
                <a16:creationId xmlns:a16="http://schemas.microsoft.com/office/drawing/2014/main" id="{96DD3EAA-A6CE-B34B-A72A-3F0B63DC5EEC}"/>
              </a:ext>
            </a:extLst>
          </p:cNvPr>
          <p:cNvCxnSpPr/>
          <p:nvPr/>
        </p:nvCxnSpPr>
        <p:spPr>
          <a:xfrm flipV="1">
            <a:off x="676233" y="2991830"/>
            <a:ext cx="976298" cy="587833"/>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AA10D1A-60B6-5543-9F48-C8BB296197DD}"/>
              </a:ext>
            </a:extLst>
          </p:cNvPr>
          <p:cNvCxnSpPr>
            <a:cxnSpLocks/>
          </p:cNvCxnSpPr>
          <p:nvPr/>
        </p:nvCxnSpPr>
        <p:spPr>
          <a:xfrm>
            <a:off x="2390661" y="2450661"/>
            <a:ext cx="536312" cy="0"/>
          </a:xfrm>
          <a:prstGeom prst="straightConnector1">
            <a:avLst/>
          </a:prstGeom>
          <a:ln w="101600">
            <a:solidFill>
              <a:schemeClr val="accent2">
                <a:lumMod val="60000"/>
                <a:lumOff val="40000"/>
              </a:schemeClr>
            </a:solidFill>
            <a:miter lim="800000"/>
            <a:tailEnd type="stealth" w="lg" len="med"/>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30063190-436B-4C4F-AA50-D68D7D0EB683}"/>
              </a:ext>
            </a:extLst>
          </p:cNvPr>
          <p:cNvSpPr>
            <a:spLocks noGrp="1"/>
          </p:cNvSpPr>
          <p:nvPr>
            <p:ph type="title"/>
          </p:nvPr>
        </p:nvSpPr>
        <p:spPr>
          <a:xfrm>
            <a:off x="586174" y="512104"/>
            <a:ext cx="7886700" cy="593341"/>
          </a:xfrm>
        </p:spPr>
        <p:txBody>
          <a:bodyPr>
            <a:normAutofit/>
          </a:bodyPr>
          <a:lstStyle/>
          <a:p>
            <a:r>
              <a:rPr lang="en-GH" sz="2800" b="1" dirty="0">
                <a:solidFill>
                  <a:schemeClr val="tx2">
                    <a:lumMod val="60000"/>
                    <a:lumOff val="40000"/>
                  </a:schemeClr>
                </a:solidFill>
                <a:latin typeface="Bodoni MT" panose="020F0502020204030204" pitchFamily="34" charset="0"/>
              </a:rPr>
              <a:t>LES INDICATEURS</a:t>
            </a:r>
          </a:p>
        </p:txBody>
      </p:sp>
      <p:sp>
        <p:nvSpPr>
          <p:cNvPr id="15" name="TextBox 14">
            <a:extLst>
              <a:ext uri="{FF2B5EF4-FFF2-40B4-BE49-F238E27FC236}">
                <a16:creationId xmlns:a16="http://schemas.microsoft.com/office/drawing/2014/main" id="{86C91AB5-A614-6C43-B5CA-29C73A08253B}"/>
              </a:ext>
            </a:extLst>
          </p:cNvPr>
          <p:cNvSpPr txBox="1"/>
          <p:nvPr/>
        </p:nvSpPr>
        <p:spPr>
          <a:xfrm>
            <a:off x="319489" y="3808124"/>
            <a:ext cx="2483091" cy="2308324"/>
          </a:xfrm>
          <a:prstGeom prst="rect">
            <a:avLst/>
          </a:prstGeom>
          <a:noFill/>
        </p:spPr>
        <p:txBody>
          <a:bodyPr wrap="square" rtlCol="0">
            <a:spAutoFit/>
          </a:bodyPr>
          <a:lstStyle/>
          <a:p>
            <a:r>
              <a:rPr lang="en-GH" sz="1200" dirty="0"/>
              <a:t>Définir les caractéritiques de l’Indicateur: Code, Type, Definition, Metode de collecte de données</a:t>
            </a:r>
          </a:p>
          <a:p>
            <a:endParaRPr lang="en-GH" sz="1200" dirty="0"/>
          </a:p>
          <a:p>
            <a:r>
              <a:rPr lang="en-GH" sz="1200" dirty="0"/>
              <a:t>Definir les desagregation avec possibilité de definir de nouvelles desagregations dans Parametres (a voir plus tard)</a:t>
            </a:r>
          </a:p>
          <a:p>
            <a:endParaRPr lang="en-GH" sz="1200" dirty="0"/>
          </a:p>
          <a:p>
            <a:r>
              <a:rPr lang="en-GH" sz="1200" dirty="0"/>
              <a:t>Cliquer sur </a:t>
            </a:r>
            <a:r>
              <a:rPr lang="en-GH" sz="1200" dirty="0">
                <a:solidFill>
                  <a:srgbClr val="C00000"/>
                </a:solidFill>
              </a:rPr>
              <a:t>Valider les Informations </a:t>
            </a:r>
            <a:r>
              <a:rPr lang="en-GH" sz="1200" dirty="0"/>
              <a:t>et Fermer</a:t>
            </a:r>
          </a:p>
        </p:txBody>
      </p:sp>
    </p:spTree>
    <p:extLst>
      <p:ext uri="{BB962C8B-B14F-4D97-AF65-F5344CB8AC3E}">
        <p14:creationId xmlns:p14="http://schemas.microsoft.com/office/powerpoint/2010/main" val="29136635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aphical user interface, text, email&#10;&#10;Description automatically generated">
            <a:extLst>
              <a:ext uri="{FF2B5EF4-FFF2-40B4-BE49-F238E27FC236}">
                <a16:creationId xmlns:a16="http://schemas.microsoft.com/office/drawing/2014/main" id="{5DBF4191-CAC9-DC49-974D-3681E2249CD7}"/>
              </a:ext>
            </a:extLst>
          </p:cNvPr>
          <p:cNvPicPr>
            <a:picLocks noChangeAspect="1"/>
          </p:cNvPicPr>
          <p:nvPr/>
        </p:nvPicPr>
        <p:blipFill>
          <a:blip r:embed="rId2"/>
          <a:stretch>
            <a:fillRect/>
          </a:stretch>
        </p:blipFill>
        <p:spPr>
          <a:xfrm>
            <a:off x="2796286" y="2389387"/>
            <a:ext cx="6347713" cy="3716343"/>
          </a:xfrm>
          <a:prstGeom prst="rect">
            <a:avLst/>
          </a:prstGeom>
        </p:spPr>
      </p:pic>
      <p:sp>
        <p:nvSpPr>
          <p:cNvPr id="6" name="Title 1">
            <a:extLst>
              <a:ext uri="{FF2B5EF4-FFF2-40B4-BE49-F238E27FC236}">
                <a16:creationId xmlns:a16="http://schemas.microsoft.com/office/drawing/2014/main" id="{35E0617F-2FF9-9847-AD37-EBAFCBBEBB1F}"/>
              </a:ext>
            </a:extLst>
          </p:cNvPr>
          <p:cNvSpPr>
            <a:spLocks noGrp="1"/>
          </p:cNvSpPr>
          <p:nvPr>
            <p:ph type="title"/>
          </p:nvPr>
        </p:nvSpPr>
        <p:spPr>
          <a:xfrm>
            <a:off x="586174" y="512104"/>
            <a:ext cx="7886700" cy="593341"/>
          </a:xfrm>
        </p:spPr>
        <p:txBody>
          <a:bodyPr>
            <a:normAutofit/>
          </a:bodyPr>
          <a:lstStyle/>
          <a:p>
            <a:r>
              <a:rPr lang="en-GH" sz="2800" b="1" dirty="0">
                <a:solidFill>
                  <a:schemeClr val="tx2">
                    <a:lumMod val="60000"/>
                    <a:lumOff val="40000"/>
                  </a:schemeClr>
                </a:solidFill>
                <a:latin typeface="Bodoni MT" panose="020F0502020204030204" pitchFamily="34" charset="0"/>
              </a:rPr>
              <a:t>LES INDICATEURS</a:t>
            </a:r>
          </a:p>
        </p:txBody>
      </p:sp>
      <p:sp>
        <p:nvSpPr>
          <p:cNvPr id="7" name="TextBox 6">
            <a:extLst>
              <a:ext uri="{FF2B5EF4-FFF2-40B4-BE49-F238E27FC236}">
                <a16:creationId xmlns:a16="http://schemas.microsoft.com/office/drawing/2014/main" id="{B0AC0F8B-9DAD-2642-A5CC-C2DD081E2E21}"/>
              </a:ext>
            </a:extLst>
          </p:cNvPr>
          <p:cNvSpPr txBox="1"/>
          <p:nvPr/>
        </p:nvSpPr>
        <p:spPr>
          <a:xfrm>
            <a:off x="665215" y="1327535"/>
            <a:ext cx="7728619"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Modifier un Indicateur</a:t>
            </a:r>
          </a:p>
        </p:txBody>
      </p:sp>
      <p:pic>
        <p:nvPicPr>
          <p:cNvPr id="8" name="Content Placeholder 5">
            <a:extLst>
              <a:ext uri="{FF2B5EF4-FFF2-40B4-BE49-F238E27FC236}">
                <a16:creationId xmlns:a16="http://schemas.microsoft.com/office/drawing/2014/main" id="{3CFB743B-0463-5E49-A915-A98C607F2C81}"/>
              </a:ext>
            </a:extLst>
          </p:cNvPr>
          <p:cNvPicPr>
            <a:picLocks noGrp="1" noChangeAspect="1"/>
          </p:cNvPicPr>
          <p:nvPr>
            <p:ph idx="1"/>
          </p:nvPr>
        </p:nvPicPr>
        <p:blipFill rotWithShape="1">
          <a:blip r:embed="rId3"/>
          <a:srcRect l="88864" t="30402" b="58264"/>
          <a:stretch/>
        </p:blipFill>
        <p:spPr>
          <a:xfrm>
            <a:off x="1023584" y="2060154"/>
            <a:ext cx="870096" cy="471505"/>
          </a:xfrm>
        </p:spPr>
      </p:pic>
      <p:cxnSp>
        <p:nvCxnSpPr>
          <p:cNvPr id="10" name="Straight Arrow Connector 9">
            <a:extLst>
              <a:ext uri="{FF2B5EF4-FFF2-40B4-BE49-F238E27FC236}">
                <a16:creationId xmlns:a16="http://schemas.microsoft.com/office/drawing/2014/main" id="{970528F6-2752-9940-9C07-837E88D2F777}"/>
              </a:ext>
            </a:extLst>
          </p:cNvPr>
          <p:cNvCxnSpPr/>
          <p:nvPr/>
        </p:nvCxnSpPr>
        <p:spPr>
          <a:xfrm flipV="1">
            <a:off x="665215" y="2385936"/>
            <a:ext cx="976298" cy="587833"/>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8FA70C0-BA8F-7A4F-B5E1-CE5E98CCDD7C}"/>
              </a:ext>
            </a:extLst>
          </p:cNvPr>
          <p:cNvCxnSpPr>
            <a:cxnSpLocks/>
          </p:cNvCxnSpPr>
          <p:nvPr/>
        </p:nvCxnSpPr>
        <p:spPr>
          <a:xfrm>
            <a:off x="1739445" y="2704049"/>
            <a:ext cx="1056841" cy="724951"/>
          </a:xfrm>
          <a:prstGeom prst="straightConnector1">
            <a:avLst/>
          </a:prstGeom>
          <a:ln w="10160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67932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aphical user interface, text, application&#10;&#10;Description automatically generated">
            <a:extLst>
              <a:ext uri="{FF2B5EF4-FFF2-40B4-BE49-F238E27FC236}">
                <a16:creationId xmlns:a16="http://schemas.microsoft.com/office/drawing/2014/main" id="{8419ABD4-00B2-A944-9160-1F857481D9DC}"/>
              </a:ext>
            </a:extLst>
          </p:cNvPr>
          <p:cNvPicPr>
            <a:picLocks noChangeAspect="1"/>
          </p:cNvPicPr>
          <p:nvPr/>
        </p:nvPicPr>
        <p:blipFill>
          <a:blip r:embed="rId2"/>
          <a:stretch>
            <a:fillRect/>
          </a:stretch>
        </p:blipFill>
        <p:spPr>
          <a:xfrm>
            <a:off x="593272" y="2947113"/>
            <a:ext cx="7807425" cy="3003746"/>
          </a:xfrm>
          <a:prstGeom prst="rect">
            <a:avLst/>
          </a:prstGeom>
        </p:spPr>
      </p:pic>
      <p:sp>
        <p:nvSpPr>
          <p:cNvPr id="4" name="Title 1">
            <a:extLst>
              <a:ext uri="{FF2B5EF4-FFF2-40B4-BE49-F238E27FC236}">
                <a16:creationId xmlns:a16="http://schemas.microsoft.com/office/drawing/2014/main" id="{A02F510F-943F-4649-A792-5ADF553DB2DD}"/>
              </a:ext>
            </a:extLst>
          </p:cNvPr>
          <p:cNvSpPr>
            <a:spLocks noGrp="1"/>
          </p:cNvSpPr>
          <p:nvPr>
            <p:ph type="title"/>
          </p:nvPr>
        </p:nvSpPr>
        <p:spPr>
          <a:xfrm>
            <a:off x="409904" y="313800"/>
            <a:ext cx="7886700" cy="593341"/>
          </a:xfrm>
        </p:spPr>
        <p:txBody>
          <a:bodyPr>
            <a:normAutofit/>
          </a:bodyPr>
          <a:lstStyle/>
          <a:p>
            <a:r>
              <a:rPr lang="en-GH" sz="2800" b="1" dirty="0">
                <a:solidFill>
                  <a:schemeClr val="tx2">
                    <a:lumMod val="60000"/>
                    <a:lumOff val="40000"/>
                  </a:schemeClr>
                </a:solidFill>
                <a:latin typeface="Bodoni MT" panose="020F0502020204030204" pitchFamily="34" charset="0"/>
              </a:rPr>
              <a:t>LA DOCUMENTATION DE L’INSTITUTION</a:t>
            </a:r>
          </a:p>
        </p:txBody>
      </p:sp>
      <p:sp>
        <p:nvSpPr>
          <p:cNvPr id="6" name="TextBox 5">
            <a:extLst>
              <a:ext uri="{FF2B5EF4-FFF2-40B4-BE49-F238E27FC236}">
                <a16:creationId xmlns:a16="http://schemas.microsoft.com/office/drawing/2014/main" id="{5FAEB933-8BD4-A64D-B43C-4FDD3573296B}"/>
              </a:ext>
            </a:extLst>
          </p:cNvPr>
          <p:cNvSpPr txBox="1"/>
          <p:nvPr/>
        </p:nvSpPr>
        <p:spPr>
          <a:xfrm>
            <a:off x="409904" y="907141"/>
            <a:ext cx="7728619"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Constituter la Documentation de l’Institution</a:t>
            </a:r>
          </a:p>
        </p:txBody>
      </p:sp>
      <p:sp>
        <p:nvSpPr>
          <p:cNvPr id="7" name="TextBox 6">
            <a:extLst>
              <a:ext uri="{FF2B5EF4-FFF2-40B4-BE49-F238E27FC236}">
                <a16:creationId xmlns:a16="http://schemas.microsoft.com/office/drawing/2014/main" id="{54626ED9-78CC-5D4D-AB01-300A2D43AC9C}"/>
              </a:ext>
            </a:extLst>
          </p:cNvPr>
          <p:cNvSpPr txBox="1"/>
          <p:nvPr/>
        </p:nvSpPr>
        <p:spPr>
          <a:xfrm>
            <a:off x="593272" y="1515870"/>
            <a:ext cx="7886700" cy="1169551"/>
          </a:xfrm>
          <a:prstGeom prst="rect">
            <a:avLst/>
          </a:prstGeom>
          <a:noFill/>
        </p:spPr>
        <p:txBody>
          <a:bodyPr wrap="square" rtlCol="0">
            <a:spAutoFit/>
          </a:bodyPr>
          <a:lstStyle/>
          <a:p>
            <a:r>
              <a:rPr lang="en-GH" sz="1400" dirty="0"/>
              <a:t>Un Espace Documentation offert pour sauvegarder tous les documents et les mettre a la disposition des utilisateurs</a:t>
            </a:r>
          </a:p>
          <a:p>
            <a:r>
              <a:rPr lang="en-GH" sz="1400" dirty="0"/>
              <a:t>Documents a prévoir: Documents Strategiques, Polotiques, Procedures et Reglementations, Codes de conduite, Charte, Manuel de Suivi Evaluation, Manuel des Procedures Administratives et Financieres,…</a:t>
            </a:r>
          </a:p>
        </p:txBody>
      </p:sp>
    </p:spTree>
    <p:extLst>
      <p:ext uri="{BB962C8B-B14F-4D97-AF65-F5344CB8AC3E}">
        <p14:creationId xmlns:p14="http://schemas.microsoft.com/office/powerpoint/2010/main" val="2846935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aphical user interface, application&#10;&#10;Description automatically generated">
            <a:extLst>
              <a:ext uri="{FF2B5EF4-FFF2-40B4-BE49-F238E27FC236}">
                <a16:creationId xmlns:a16="http://schemas.microsoft.com/office/drawing/2014/main" id="{9F386292-5DC4-1848-B451-89FB693C0A17}"/>
              </a:ext>
            </a:extLst>
          </p:cNvPr>
          <p:cNvPicPr>
            <a:picLocks noChangeAspect="1"/>
          </p:cNvPicPr>
          <p:nvPr/>
        </p:nvPicPr>
        <p:blipFill>
          <a:blip r:embed="rId3"/>
          <a:stretch>
            <a:fillRect/>
          </a:stretch>
        </p:blipFill>
        <p:spPr>
          <a:xfrm>
            <a:off x="3614057" y="2063218"/>
            <a:ext cx="5133330" cy="1329879"/>
          </a:xfrm>
          <a:prstGeom prst="rect">
            <a:avLst/>
          </a:prstGeom>
        </p:spPr>
      </p:pic>
      <p:pic>
        <p:nvPicPr>
          <p:cNvPr id="7" name="Picture 6" descr="Graphical user interface, text, application&#10;&#10;Description automatically generated">
            <a:extLst>
              <a:ext uri="{FF2B5EF4-FFF2-40B4-BE49-F238E27FC236}">
                <a16:creationId xmlns:a16="http://schemas.microsoft.com/office/drawing/2014/main" id="{1106E0D3-6A2F-D044-8FB1-0A1005BACEAD}"/>
              </a:ext>
            </a:extLst>
          </p:cNvPr>
          <p:cNvPicPr>
            <a:picLocks noChangeAspect="1"/>
          </p:cNvPicPr>
          <p:nvPr/>
        </p:nvPicPr>
        <p:blipFill>
          <a:blip r:embed="rId4"/>
          <a:stretch>
            <a:fillRect/>
          </a:stretch>
        </p:blipFill>
        <p:spPr>
          <a:xfrm>
            <a:off x="2941501" y="3817731"/>
            <a:ext cx="5805887" cy="2727239"/>
          </a:xfrm>
          <a:prstGeom prst="rect">
            <a:avLst/>
          </a:prstGeom>
        </p:spPr>
      </p:pic>
      <p:sp>
        <p:nvSpPr>
          <p:cNvPr id="9" name="Title 1">
            <a:extLst>
              <a:ext uri="{FF2B5EF4-FFF2-40B4-BE49-F238E27FC236}">
                <a16:creationId xmlns:a16="http://schemas.microsoft.com/office/drawing/2014/main" id="{54CE5867-357B-6C42-9D2F-1EAEC446893E}"/>
              </a:ext>
            </a:extLst>
          </p:cNvPr>
          <p:cNvSpPr>
            <a:spLocks noGrp="1"/>
          </p:cNvSpPr>
          <p:nvPr>
            <p:ph type="title"/>
          </p:nvPr>
        </p:nvSpPr>
        <p:spPr>
          <a:xfrm>
            <a:off x="409904" y="313800"/>
            <a:ext cx="7886700" cy="593341"/>
          </a:xfrm>
        </p:spPr>
        <p:txBody>
          <a:bodyPr>
            <a:normAutofit/>
          </a:bodyPr>
          <a:lstStyle/>
          <a:p>
            <a:r>
              <a:rPr lang="en-GH" sz="2800" b="1" dirty="0">
                <a:solidFill>
                  <a:schemeClr val="tx2">
                    <a:lumMod val="60000"/>
                    <a:lumOff val="40000"/>
                  </a:schemeClr>
                </a:solidFill>
                <a:latin typeface="Bodoni MT" panose="020F0502020204030204" pitchFamily="34" charset="0"/>
              </a:rPr>
              <a:t>LA DOCUMENTATION DE L’INSTITUTION</a:t>
            </a:r>
          </a:p>
        </p:txBody>
      </p:sp>
      <p:sp>
        <p:nvSpPr>
          <p:cNvPr id="11" name="TextBox 10">
            <a:extLst>
              <a:ext uri="{FF2B5EF4-FFF2-40B4-BE49-F238E27FC236}">
                <a16:creationId xmlns:a16="http://schemas.microsoft.com/office/drawing/2014/main" id="{915427D1-E660-3242-8E50-9B72B751CBF8}"/>
              </a:ext>
            </a:extLst>
          </p:cNvPr>
          <p:cNvSpPr txBox="1"/>
          <p:nvPr/>
        </p:nvSpPr>
        <p:spPr>
          <a:xfrm>
            <a:off x="409904" y="1134993"/>
            <a:ext cx="7728619"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Constituter la Documentation de l’Institution</a:t>
            </a:r>
          </a:p>
        </p:txBody>
      </p:sp>
      <p:sp>
        <p:nvSpPr>
          <p:cNvPr id="12" name="Rectangle 11">
            <a:extLst>
              <a:ext uri="{FF2B5EF4-FFF2-40B4-BE49-F238E27FC236}">
                <a16:creationId xmlns:a16="http://schemas.microsoft.com/office/drawing/2014/main" id="{33474BAD-F5F1-2B49-BC9F-4C962051FDF7}"/>
              </a:ext>
            </a:extLst>
          </p:cNvPr>
          <p:cNvSpPr/>
          <p:nvPr/>
        </p:nvSpPr>
        <p:spPr>
          <a:xfrm>
            <a:off x="396612" y="1954814"/>
            <a:ext cx="2258452" cy="2800767"/>
          </a:xfrm>
          <a:prstGeom prst="rect">
            <a:avLst/>
          </a:prstGeom>
        </p:spPr>
        <p:txBody>
          <a:bodyPr wrap="square">
            <a:spAutoFit/>
          </a:bodyPr>
          <a:lstStyle/>
          <a:p>
            <a:r>
              <a:rPr lang="en-GH" sz="1600" b="1" dirty="0"/>
              <a:t>Pour Enregistrer un document, </a:t>
            </a:r>
          </a:p>
          <a:p>
            <a:pPr marL="285750" indent="-285750">
              <a:buFont typeface="Arial" panose="020B0604020202020204" pitchFamily="34" charset="0"/>
              <a:buChar char="•"/>
            </a:pPr>
            <a:r>
              <a:rPr lang="en-GH" sz="1600" b="1" dirty="0"/>
              <a:t>cliquer sur Ajouter un Document</a:t>
            </a:r>
          </a:p>
          <a:p>
            <a:pPr marL="285750" indent="-285750">
              <a:buFont typeface="Arial" panose="020B0604020202020204" pitchFamily="34" charset="0"/>
              <a:buChar char="•"/>
            </a:pPr>
            <a:r>
              <a:rPr lang="en-GH" sz="1600" b="1" dirty="0"/>
              <a:t>Renseigner les informations sur le document</a:t>
            </a:r>
          </a:p>
          <a:p>
            <a:pPr marL="285750" indent="-285750">
              <a:buFont typeface="Arial" panose="020B0604020202020204" pitchFamily="34" charset="0"/>
              <a:buChar char="•"/>
            </a:pPr>
            <a:r>
              <a:rPr lang="en-GH" sz="1600" b="1" dirty="0"/>
              <a:t>Enregistrer le Document </a:t>
            </a:r>
          </a:p>
          <a:p>
            <a:pPr marL="285750" indent="-285750">
              <a:buFont typeface="Arial" panose="020B0604020202020204" pitchFamily="34" charset="0"/>
              <a:buChar char="•"/>
            </a:pPr>
            <a:r>
              <a:rPr lang="en-GH" sz="1600" b="1" dirty="0"/>
              <a:t>Valider et Fermer</a:t>
            </a:r>
          </a:p>
        </p:txBody>
      </p:sp>
      <p:cxnSp>
        <p:nvCxnSpPr>
          <p:cNvPr id="13" name="Straight Arrow Connector 12">
            <a:extLst>
              <a:ext uri="{FF2B5EF4-FFF2-40B4-BE49-F238E27FC236}">
                <a16:creationId xmlns:a16="http://schemas.microsoft.com/office/drawing/2014/main" id="{75C09472-A6E4-D94D-8651-BF08E0EF8D18}"/>
              </a:ext>
            </a:extLst>
          </p:cNvPr>
          <p:cNvCxnSpPr>
            <a:cxnSpLocks/>
          </p:cNvCxnSpPr>
          <p:nvPr/>
        </p:nvCxnSpPr>
        <p:spPr>
          <a:xfrm>
            <a:off x="2555969" y="3071574"/>
            <a:ext cx="5026145" cy="3013540"/>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4CA22AF-C864-3D4E-A9A0-C11212683EB3}"/>
              </a:ext>
            </a:extLst>
          </p:cNvPr>
          <p:cNvCxnSpPr>
            <a:cxnSpLocks/>
          </p:cNvCxnSpPr>
          <p:nvPr/>
        </p:nvCxnSpPr>
        <p:spPr>
          <a:xfrm>
            <a:off x="2555969" y="3040269"/>
            <a:ext cx="4541517" cy="2386793"/>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BFBEBE1-B0ED-3A4F-A3C5-77BFEE7CE9ED}"/>
              </a:ext>
            </a:extLst>
          </p:cNvPr>
          <p:cNvCxnSpPr>
            <a:cxnSpLocks/>
          </p:cNvCxnSpPr>
          <p:nvPr/>
        </p:nvCxnSpPr>
        <p:spPr>
          <a:xfrm>
            <a:off x="2555969" y="3071574"/>
            <a:ext cx="1797285" cy="2273678"/>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13964E9-6AB0-5C42-8B3C-1C14EE7F9C70}"/>
              </a:ext>
            </a:extLst>
          </p:cNvPr>
          <p:cNvCxnSpPr>
            <a:cxnSpLocks/>
          </p:cNvCxnSpPr>
          <p:nvPr/>
        </p:nvCxnSpPr>
        <p:spPr>
          <a:xfrm>
            <a:off x="2555969" y="3030668"/>
            <a:ext cx="1425221" cy="1"/>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08923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Content Placeholder 4" descr="Graphical user interface, text, application, website&#10;&#10;Description automatically generated">
            <a:extLst>
              <a:ext uri="{FF2B5EF4-FFF2-40B4-BE49-F238E27FC236}">
                <a16:creationId xmlns:a16="http://schemas.microsoft.com/office/drawing/2014/main" id="{936E182A-A275-0C49-A393-D9CF70F6A6C7}"/>
              </a:ext>
            </a:extLst>
          </p:cNvPr>
          <p:cNvPicPr>
            <a:picLocks noGrp="1" noChangeAspect="1"/>
          </p:cNvPicPr>
          <p:nvPr>
            <p:ph idx="1"/>
          </p:nvPr>
        </p:nvPicPr>
        <p:blipFill>
          <a:blip r:embed="rId2"/>
          <a:stretch>
            <a:fillRect/>
          </a:stretch>
        </p:blipFill>
        <p:spPr>
          <a:xfrm>
            <a:off x="409903" y="1721940"/>
            <a:ext cx="8061299" cy="4210773"/>
          </a:xfrm>
        </p:spPr>
      </p:pic>
      <p:sp>
        <p:nvSpPr>
          <p:cNvPr id="4" name="Title 1">
            <a:extLst>
              <a:ext uri="{FF2B5EF4-FFF2-40B4-BE49-F238E27FC236}">
                <a16:creationId xmlns:a16="http://schemas.microsoft.com/office/drawing/2014/main" id="{8880792E-E4E5-E64A-A78B-340B0953F245}"/>
              </a:ext>
            </a:extLst>
          </p:cNvPr>
          <p:cNvSpPr>
            <a:spLocks noGrp="1"/>
          </p:cNvSpPr>
          <p:nvPr>
            <p:ph type="title"/>
          </p:nvPr>
        </p:nvSpPr>
        <p:spPr>
          <a:xfrm>
            <a:off x="409904" y="313800"/>
            <a:ext cx="7886700" cy="593341"/>
          </a:xfrm>
        </p:spPr>
        <p:txBody>
          <a:bodyPr>
            <a:normAutofit/>
          </a:bodyPr>
          <a:lstStyle/>
          <a:p>
            <a:r>
              <a:rPr lang="en-GH" sz="2800" b="1" dirty="0">
                <a:solidFill>
                  <a:schemeClr val="tx2">
                    <a:lumMod val="60000"/>
                    <a:lumOff val="40000"/>
                  </a:schemeClr>
                </a:solidFill>
                <a:latin typeface="Bodoni MT" panose="020F0502020204030204" pitchFamily="34" charset="0"/>
              </a:rPr>
              <a:t>PARAMETRER LE SYSTEME</a:t>
            </a:r>
          </a:p>
        </p:txBody>
      </p:sp>
      <p:sp>
        <p:nvSpPr>
          <p:cNvPr id="6" name="TextBox 5">
            <a:extLst>
              <a:ext uri="{FF2B5EF4-FFF2-40B4-BE49-F238E27FC236}">
                <a16:creationId xmlns:a16="http://schemas.microsoft.com/office/drawing/2014/main" id="{A1CEFB78-C072-0447-91B8-05DBD2A47780}"/>
              </a:ext>
            </a:extLst>
          </p:cNvPr>
          <p:cNvSpPr txBox="1"/>
          <p:nvPr/>
        </p:nvSpPr>
        <p:spPr>
          <a:xfrm>
            <a:off x="409904" y="1134993"/>
            <a:ext cx="7728619"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Définir les acteurs et partenaires des projets, programmes</a:t>
            </a:r>
          </a:p>
        </p:txBody>
      </p:sp>
      <p:cxnSp>
        <p:nvCxnSpPr>
          <p:cNvPr id="7" name="Straight Arrow Connector 6">
            <a:extLst>
              <a:ext uri="{FF2B5EF4-FFF2-40B4-BE49-F238E27FC236}">
                <a16:creationId xmlns:a16="http://schemas.microsoft.com/office/drawing/2014/main" id="{D68A0783-B239-B44D-AF02-6E7F6DEAB628}"/>
              </a:ext>
            </a:extLst>
          </p:cNvPr>
          <p:cNvCxnSpPr>
            <a:cxnSpLocks/>
          </p:cNvCxnSpPr>
          <p:nvPr/>
        </p:nvCxnSpPr>
        <p:spPr>
          <a:xfrm flipV="1">
            <a:off x="6411686" y="3287487"/>
            <a:ext cx="957943" cy="1393370"/>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18100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80792E-E4E5-E64A-A78B-340B0953F245}"/>
              </a:ext>
            </a:extLst>
          </p:cNvPr>
          <p:cNvSpPr>
            <a:spLocks noGrp="1"/>
          </p:cNvSpPr>
          <p:nvPr>
            <p:ph type="title"/>
          </p:nvPr>
        </p:nvSpPr>
        <p:spPr>
          <a:xfrm>
            <a:off x="409904" y="313800"/>
            <a:ext cx="7886700" cy="593341"/>
          </a:xfrm>
        </p:spPr>
        <p:txBody>
          <a:bodyPr>
            <a:normAutofit/>
          </a:bodyPr>
          <a:lstStyle/>
          <a:p>
            <a:r>
              <a:rPr lang="en-GH" sz="2800" b="1" dirty="0">
                <a:solidFill>
                  <a:schemeClr val="tx2">
                    <a:lumMod val="60000"/>
                    <a:lumOff val="40000"/>
                  </a:schemeClr>
                </a:solidFill>
                <a:latin typeface="Bodoni MT" panose="020F0502020204030204" pitchFamily="34" charset="0"/>
              </a:rPr>
              <a:t>PARAMETRER LE SYSTEME</a:t>
            </a:r>
          </a:p>
        </p:txBody>
      </p:sp>
      <p:sp>
        <p:nvSpPr>
          <p:cNvPr id="6" name="TextBox 5">
            <a:extLst>
              <a:ext uri="{FF2B5EF4-FFF2-40B4-BE49-F238E27FC236}">
                <a16:creationId xmlns:a16="http://schemas.microsoft.com/office/drawing/2014/main" id="{A1CEFB78-C072-0447-91B8-05DBD2A47780}"/>
              </a:ext>
            </a:extLst>
          </p:cNvPr>
          <p:cNvSpPr txBox="1"/>
          <p:nvPr/>
        </p:nvSpPr>
        <p:spPr>
          <a:xfrm>
            <a:off x="409904" y="1134993"/>
            <a:ext cx="7728619"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Définir les acteurs et partenaires des projets, programmes</a:t>
            </a:r>
          </a:p>
        </p:txBody>
      </p:sp>
      <p:pic>
        <p:nvPicPr>
          <p:cNvPr id="9" name="Picture 8">
            <a:extLst>
              <a:ext uri="{FF2B5EF4-FFF2-40B4-BE49-F238E27FC236}">
                <a16:creationId xmlns:a16="http://schemas.microsoft.com/office/drawing/2014/main" id="{D6441894-5497-5445-BE7C-7A73F1CB06AC}"/>
              </a:ext>
            </a:extLst>
          </p:cNvPr>
          <p:cNvPicPr>
            <a:picLocks noChangeAspect="1"/>
          </p:cNvPicPr>
          <p:nvPr/>
        </p:nvPicPr>
        <p:blipFill>
          <a:blip r:embed="rId2"/>
          <a:stretch>
            <a:fillRect/>
          </a:stretch>
        </p:blipFill>
        <p:spPr>
          <a:xfrm>
            <a:off x="1210827" y="2109134"/>
            <a:ext cx="6117771" cy="3414211"/>
          </a:xfrm>
          <a:prstGeom prst="rect">
            <a:avLst/>
          </a:prstGeom>
        </p:spPr>
      </p:pic>
    </p:spTree>
    <p:extLst>
      <p:ext uri="{BB962C8B-B14F-4D97-AF65-F5344CB8AC3E}">
        <p14:creationId xmlns:p14="http://schemas.microsoft.com/office/powerpoint/2010/main" val="35001377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80792E-E4E5-E64A-A78B-340B0953F245}"/>
              </a:ext>
            </a:extLst>
          </p:cNvPr>
          <p:cNvSpPr>
            <a:spLocks noGrp="1"/>
          </p:cNvSpPr>
          <p:nvPr>
            <p:ph type="title"/>
          </p:nvPr>
        </p:nvSpPr>
        <p:spPr>
          <a:xfrm>
            <a:off x="409904" y="313800"/>
            <a:ext cx="7886700" cy="593341"/>
          </a:xfrm>
        </p:spPr>
        <p:txBody>
          <a:bodyPr>
            <a:normAutofit/>
          </a:bodyPr>
          <a:lstStyle/>
          <a:p>
            <a:r>
              <a:rPr lang="en-GH" sz="2800" b="1" dirty="0">
                <a:solidFill>
                  <a:schemeClr val="tx2">
                    <a:lumMod val="60000"/>
                    <a:lumOff val="40000"/>
                  </a:schemeClr>
                </a:solidFill>
                <a:latin typeface="Bodoni MT" panose="020F0502020204030204" pitchFamily="34" charset="0"/>
              </a:rPr>
              <a:t>PARAMETRER LE SYSTEME</a:t>
            </a:r>
          </a:p>
        </p:txBody>
      </p:sp>
      <p:sp>
        <p:nvSpPr>
          <p:cNvPr id="6" name="TextBox 5">
            <a:extLst>
              <a:ext uri="{FF2B5EF4-FFF2-40B4-BE49-F238E27FC236}">
                <a16:creationId xmlns:a16="http://schemas.microsoft.com/office/drawing/2014/main" id="{A1CEFB78-C072-0447-91B8-05DBD2A47780}"/>
              </a:ext>
            </a:extLst>
          </p:cNvPr>
          <p:cNvSpPr txBox="1"/>
          <p:nvPr/>
        </p:nvSpPr>
        <p:spPr>
          <a:xfrm>
            <a:off x="409904" y="1134993"/>
            <a:ext cx="8244239" cy="584775"/>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Modifier les informations sur les acteurs et partenaires des projets, programmes</a:t>
            </a:r>
          </a:p>
        </p:txBody>
      </p:sp>
      <p:pic>
        <p:nvPicPr>
          <p:cNvPr id="5" name="Content Placeholder 4" descr="Graphical user interface, text, application&#10;&#10;Description automatically generated">
            <a:extLst>
              <a:ext uri="{FF2B5EF4-FFF2-40B4-BE49-F238E27FC236}">
                <a16:creationId xmlns:a16="http://schemas.microsoft.com/office/drawing/2014/main" id="{229439F7-12B1-9444-8F99-F927F434EC92}"/>
              </a:ext>
            </a:extLst>
          </p:cNvPr>
          <p:cNvPicPr>
            <a:picLocks noGrp="1" noChangeAspect="1"/>
          </p:cNvPicPr>
          <p:nvPr>
            <p:ph idx="1"/>
          </p:nvPr>
        </p:nvPicPr>
        <p:blipFill>
          <a:blip r:embed="rId2"/>
          <a:stretch>
            <a:fillRect/>
          </a:stretch>
        </p:blipFill>
        <p:spPr>
          <a:xfrm>
            <a:off x="692932" y="2044635"/>
            <a:ext cx="7438696" cy="2569872"/>
          </a:xfrm>
        </p:spPr>
      </p:pic>
    </p:spTree>
    <p:extLst>
      <p:ext uri="{BB962C8B-B14F-4D97-AF65-F5344CB8AC3E}">
        <p14:creationId xmlns:p14="http://schemas.microsoft.com/office/powerpoint/2010/main" val="1003897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80792E-E4E5-E64A-A78B-340B0953F245}"/>
              </a:ext>
            </a:extLst>
          </p:cNvPr>
          <p:cNvSpPr>
            <a:spLocks noGrp="1"/>
          </p:cNvSpPr>
          <p:nvPr>
            <p:ph type="title"/>
          </p:nvPr>
        </p:nvSpPr>
        <p:spPr>
          <a:xfrm>
            <a:off x="409904" y="313800"/>
            <a:ext cx="7886700" cy="593341"/>
          </a:xfrm>
        </p:spPr>
        <p:txBody>
          <a:bodyPr>
            <a:normAutofit/>
          </a:bodyPr>
          <a:lstStyle/>
          <a:p>
            <a:r>
              <a:rPr lang="en-GH" sz="2800" b="1" dirty="0">
                <a:solidFill>
                  <a:schemeClr val="tx2">
                    <a:lumMod val="60000"/>
                    <a:lumOff val="40000"/>
                  </a:schemeClr>
                </a:solidFill>
                <a:latin typeface="Bodoni MT" panose="020F0502020204030204" pitchFamily="34" charset="0"/>
              </a:rPr>
              <a:t>PARAMETRER LE SYSTEME</a:t>
            </a:r>
          </a:p>
        </p:txBody>
      </p:sp>
      <p:sp>
        <p:nvSpPr>
          <p:cNvPr id="6" name="TextBox 5">
            <a:extLst>
              <a:ext uri="{FF2B5EF4-FFF2-40B4-BE49-F238E27FC236}">
                <a16:creationId xmlns:a16="http://schemas.microsoft.com/office/drawing/2014/main" id="{A1CEFB78-C072-0447-91B8-05DBD2A47780}"/>
              </a:ext>
            </a:extLst>
          </p:cNvPr>
          <p:cNvSpPr txBox="1"/>
          <p:nvPr/>
        </p:nvSpPr>
        <p:spPr>
          <a:xfrm>
            <a:off x="409904" y="1134993"/>
            <a:ext cx="8244239"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Définir les désagrégations des indicateurs</a:t>
            </a:r>
          </a:p>
        </p:txBody>
      </p:sp>
      <p:pic>
        <p:nvPicPr>
          <p:cNvPr id="7" name="Content Placeholder 4" descr="Graphical user interface, application&#10;&#10;Description automatically generated with medium confidence">
            <a:extLst>
              <a:ext uri="{FF2B5EF4-FFF2-40B4-BE49-F238E27FC236}">
                <a16:creationId xmlns:a16="http://schemas.microsoft.com/office/drawing/2014/main" id="{3DA04276-6984-9842-AD45-CB6163294CDE}"/>
              </a:ext>
            </a:extLst>
          </p:cNvPr>
          <p:cNvPicPr>
            <a:picLocks noGrp="1" noChangeAspect="1"/>
          </p:cNvPicPr>
          <p:nvPr>
            <p:ph idx="1"/>
          </p:nvPr>
        </p:nvPicPr>
        <p:blipFill>
          <a:blip r:embed="rId2"/>
          <a:stretch>
            <a:fillRect/>
          </a:stretch>
        </p:blipFill>
        <p:spPr>
          <a:xfrm>
            <a:off x="503663" y="1799574"/>
            <a:ext cx="7290508" cy="3523646"/>
          </a:xfrm>
        </p:spPr>
      </p:pic>
      <p:cxnSp>
        <p:nvCxnSpPr>
          <p:cNvPr id="8" name="Straight Arrow Connector 7">
            <a:extLst>
              <a:ext uri="{FF2B5EF4-FFF2-40B4-BE49-F238E27FC236}">
                <a16:creationId xmlns:a16="http://schemas.microsoft.com/office/drawing/2014/main" id="{0C91F0B4-9E3E-A942-948F-33BAC13BC733}"/>
              </a:ext>
            </a:extLst>
          </p:cNvPr>
          <p:cNvCxnSpPr>
            <a:cxnSpLocks/>
          </p:cNvCxnSpPr>
          <p:nvPr/>
        </p:nvCxnSpPr>
        <p:spPr>
          <a:xfrm flipV="1">
            <a:off x="6063343" y="2732315"/>
            <a:ext cx="957943" cy="1393370"/>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8827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80792E-E4E5-E64A-A78B-340B0953F245}"/>
              </a:ext>
            </a:extLst>
          </p:cNvPr>
          <p:cNvSpPr>
            <a:spLocks noGrp="1"/>
          </p:cNvSpPr>
          <p:nvPr>
            <p:ph type="title"/>
          </p:nvPr>
        </p:nvSpPr>
        <p:spPr>
          <a:xfrm>
            <a:off x="409904" y="313800"/>
            <a:ext cx="7886700" cy="593341"/>
          </a:xfrm>
        </p:spPr>
        <p:txBody>
          <a:bodyPr>
            <a:normAutofit/>
          </a:bodyPr>
          <a:lstStyle/>
          <a:p>
            <a:r>
              <a:rPr lang="en-GH" sz="2800" b="1" dirty="0">
                <a:solidFill>
                  <a:schemeClr val="tx2">
                    <a:lumMod val="60000"/>
                    <a:lumOff val="40000"/>
                  </a:schemeClr>
                </a:solidFill>
                <a:latin typeface="Bodoni MT" panose="020F0502020204030204" pitchFamily="34" charset="0"/>
              </a:rPr>
              <a:t>PARAMETRER LE SYSTEME</a:t>
            </a:r>
          </a:p>
        </p:txBody>
      </p:sp>
      <p:sp>
        <p:nvSpPr>
          <p:cNvPr id="6" name="TextBox 5">
            <a:extLst>
              <a:ext uri="{FF2B5EF4-FFF2-40B4-BE49-F238E27FC236}">
                <a16:creationId xmlns:a16="http://schemas.microsoft.com/office/drawing/2014/main" id="{A1CEFB78-C072-0447-91B8-05DBD2A47780}"/>
              </a:ext>
            </a:extLst>
          </p:cNvPr>
          <p:cNvSpPr txBox="1"/>
          <p:nvPr/>
        </p:nvSpPr>
        <p:spPr>
          <a:xfrm>
            <a:off x="409904" y="1134993"/>
            <a:ext cx="8244239"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Définir les désagrégations des indicateurs</a:t>
            </a:r>
          </a:p>
        </p:txBody>
      </p:sp>
      <p:pic>
        <p:nvPicPr>
          <p:cNvPr id="8" name="Picture 7">
            <a:extLst>
              <a:ext uri="{FF2B5EF4-FFF2-40B4-BE49-F238E27FC236}">
                <a16:creationId xmlns:a16="http://schemas.microsoft.com/office/drawing/2014/main" id="{96A8F942-3D12-4B4F-BF73-B7D074606D5B}"/>
              </a:ext>
            </a:extLst>
          </p:cNvPr>
          <p:cNvPicPr>
            <a:picLocks noChangeAspect="1"/>
          </p:cNvPicPr>
          <p:nvPr/>
        </p:nvPicPr>
        <p:blipFill>
          <a:blip r:embed="rId2"/>
          <a:stretch>
            <a:fillRect/>
          </a:stretch>
        </p:blipFill>
        <p:spPr>
          <a:xfrm>
            <a:off x="1315294" y="2335355"/>
            <a:ext cx="6433457" cy="2463001"/>
          </a:xfrm>
          <a:prstGeom prst="rect">
            <a:avLst/>
          </a:prstGeom>
        </p:spPr>
      </p:pic>
    </p:spTree>
    <p:extLst>
      <p:ext uri="{BB962C8B-B14F-4D97-AF65-F5344CB8AC3E}">
        <p14:creationId xmlns:p14="http://schemas.microsoft.com/office/powerpoint/2010/main" val="7627323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80792E-E4E5-E64A-A78B-340B0953F245}"/>
              </a:ext>
            </a:extLst>
          </p:cNvPr>
          <p:cNvSpPr>
            <a:spLocks noGrp="1"/>
          </p:cNvSpPr>
          <p:nvPr>
            <p:ph type="title"/>
          </p:nvPr>
        </p:nvSpPr>
        <p:spPr>
          <a:xfrm>
            <a:off x="409904" y="313800"/>
            <a:ext cx="7886700" cy="593341"/>
          </a:xfrm>
        </p:spPr>
        <p:txBody>
          <a:bodyPr>
            <a:normAutofit/>
          </a:bodyPr>
          <a:lstStyle/>
          <a:p>
            <a:r>
              <a:rPr lang="en-GH" sz="2800" b="1" dirty="0">
                <a:solidFill>
                  <a:schemeClr val="tx2">
                    <a:lumMod val="60000"/>
                    <a:lumOff val="40000"/>
                  </a:schemeClr>
                </a:solidFill>
                <a:latin typeface="Bodoni MT" panose="020F0502020204030204" pitchFamily="34" charset="0"/>
              </a:rPr>
              <a:t>PARAMETRER LE SYSTEME</a:t>
            </a:r>
          </a:p>
        </p:txBody>
      </p:sp>
      <p:sp>
        <p:nvSpPr>
          <p:cNvPr id="6" name="TextBox 5">
            <a:extLst>
              <a:ext uri="{FF2B5EF4-FFF2-40B4-BE49-F238E27FC236}">
                <a16:creationId xmlns:a16="http://schemas.microsoft.com/office/drawing/2014/main" id="{A1CEFB78-C072-0447-91B8-05DBD2A47780}"/>
              </a:ext>
            </a:extLst>
          </p:cNvPr>
          <p:cNvSpPr txBox="1"/>
          <p:nvPr/>
        </p:nvSpPr>
        <p:spPr>
          <a:xfrm>
            <a:off x="409904" y="1134993"/>
            <a:ext cx="8244239"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Définir les différentes modalités des désagrégations des indicateurs</a:t>
            </a:r>
          </a:p>
        </p:txBody>
      </p:sp>
      <p:pic>
        <p:nvPicPr>
          <p:cNvPr id="3" name="Picture 2">
            <a:extLst>
              <a:ext uri="{FF2B5EF4-FFF2-40B4-BE49-F238E27FC236}">
                <a16:creationId xmlns:a16="http://schemas.microsoft.com/office/drawing/2014/main" id="{96F90F13-476B-F44D-BD71-7F4EFE1A8B6C}"/>
              </a:ext>
            </a:extLst>
          </p:cNvPr>
          <p:cNvPicPr>
            <a:picLocks noChangeAspect="1"/>
          </p:cNvPicPr>
          <p:nvPr/>
        </p:nvPicPr>
        <p:blipFill>
          <a:blip r:embed="rId2"/>
          <a:stretch>
            <a:fillRect/>
          </a:stretch>
        </p:blipFill>
        <p:spPr>
          <a:xfrm>
            <a:off x="4364137" y="3599944"/>
            <a:ext cx="4343398" cy="1719986"/>
          </a:xfrm>
          <a:prstGeom prst="rect">
            <a:avLst/>
          </a:prstGeom>
        </p:spPr>
      </p:pic>
      <p:pic>
        <p:nvPicPr>
          <p:cNvPr id="7" name="Content Placeholder 4" descr="Graphical user interface, application&#10;&#10;Description automatically generated with medium confidence">
            <a:extLst>
              <a:ext uri="{FF2B5EF4-FFF2-40B4-BE49-F238E27FC236}">
                <a16:creationId xmlns:a16="http://schemas.microsoft.com/office/drawing/2014/main" id="{4268B861-FA02-F64E-8F7B-2D405680C419}"/>
              </a:ext>
            </a:extLst>
          </p:cNvPr>
          <p:cNvPicPr>
            <a:picLocks noGrp="1" noChangeAspect="1"/>
          </p:cNvPicPr>
          <p:nvPr>
            <p:ph idx="1"/>
          </p:nvPr>
        </p:nvPicPr>
        <p:blipFill rotWithShape="1">
          <a:blip r:embed="rId3"/>
          <a:srcRect b="46842"/>
          <a:stretch/>
        </p:blipFill>
        <p:spPr>
          <a:xfrm>
            <a:off x="679402" y="1701399"/>
            <a:ext cx="6058853" cy="1556658"/>
          </a:xfrm>
        </p:spPr>
      </p:pic>
      <p:cxnSp>
        <p:nvCxnSpPr>
          <p:cNvPr id="9" name="Straight Arrow Connector 8">
            <a:extLst>
              <a:ext uri="{FF2B5EF4-FFF2-40B4-BE49-F238E27FC236}">
                <a16:creationId xmlns:a16="http://schemas.microsoft.com/office/drawing/2014/main" id="{707611E5-559D-A84D-80C2-49AA6EBBD7A5}"/>
              </a:ext>
            </a:extLst>
          </p:cNvPr>
          <p:cNvCxnSpPr>
            <a:cxnSpLocks/>
          </p:cNvCxnSpPr>
          <p:nvPr/>
        </p:nvCxnSpPr>
        <p:spPr>
          <a:xfrm flipV="1">
            <a:off x="5094514" y="2805119"/>
            <a:ext cx="1175655" cy="536795"/>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F2C4479E-9E6F-7E4E-9612-1B250D3EAE19}"/>
              </a:ext>
            </a:extLst>
          </p:cNvPr>
          <p:cNvPicPr>
            <a:picLocks noChangeAspect="1"/>
          </p:cNvPicPr>
          <p:nvPr/>
        </p:nvPicPr>
        <p:blipFill>
          <a:blip r:embed="rId4"/>
          <a:stretch>
            <a:fillRect/>
          </a:stretch>
        </p:blipFill>
        <p:spPr>
          <a:xfrm>
            <a:off x="679402" y="4863092"/>
            <a:ext cx="4484914" cy="1681108"/>
          </a:xfrm>
          <a:prstGeom prst="rect">
            <a:avLst/>
          </a:prstGeom>
        </p:spPr>
      </p:pic>
      <p:sp>
        <p:nvSpPr>
          <p:cNvPr id="12" name="Rectangle 11">
            <a:extLst>
              <a:ext uri="{FF2B5EF4-FFF2-40B4-BE49-F238E27FC236}">
                <a16:creationId xmlns:a16="http://schemas.microsoft.com/office/drawing/2014/main" id="{CC035D06-9E1D-0A4F-90F2-88AD59F3FE34}"/>
              </a:ext>
            </a:extLst>
          </p:cNvPr>
          <p:cNvSpPr/>
          <p:nvPr/>
        </p:nvSpPr>
        <p:spPr>
          <a:xfrm>
            <a:off x="1637584" y="3891297"/>
            <a:ext cx="2258452" cy="338554"/>
          </a:xfrm>
          <a:prstGeom prst="rect">
            <a:avLst/>
          </a:prstGeom>
        </p:spPr>
        <p:txBody>
          <a:bodyPr wrap="square">
            <a:spAutoFit/>
          </a:bodyPr>
          <a:lstStyle/>
          <a:p>
            <a:r>
              <a:rPr lang="en-GH" sz="1600" b="1" dirty="0"/>
              <a:t>Ajouter une modalité</a:t>
            </a:r>
          </a:p>
        </p:txBody>
      </p:sp>
      <p:sp>
        <p:nvSpPr>
          <p:cNvPr id="13" name="Rectangle 12">
            <a:extLst>
              <a:ext uri="{FF2B5EF4-FFF2-40B4-BE49-F238E27FC236}">
                <a16:creationId xmlns:a16="http://schemas.microsoft.com/office/drawing/2014/main" id="{140FC856-B27C-DB48-9A03-B6002021BEB3}"/>
              </a:ext>
            </a:extLst>
          </p:cNvPr>
          <p:cNvSpPr/>
          <p:nvPr/>
        </p:nvSpPr>
        <p:spPr>
          <a:xfrm>
            <a:off x="5883012" y="5762788"/>
            <a:ext cx="2258452" cy="338554"/>
          </a:xfrm>
          <a:prstGeom prst="rect">
            <a:avLst/>
          </a:prstGeom>
        </p:spPr>
        <p:txBody>
          <a:bodyPr wrap="square">
            <a:spAutoFit/>
          </a:bodyPr>
          <a:lstStyle/>
          <a:p>
            <a:r>
              <a:rPr lang="en-GH" sz="1600" b="1" dirty="0"/>
              <a:t>Modifier la modalité</a:t>
            </a:r>
          </a:p>
        </p:txBody>
      </p:sp>
    </p:spTree>
    <p:extLst>
      <p:ext uri="{BB962C8B-B14F-4D97-AF65-F5344CB8AC3E}">
        <p14:creationId xmlns:p14="http://schemas.microsoft.com/office/powerpoint/2010/main" val="4609084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80792E-E4E5-E64A-A78B-340B0953F245}"/>
              </a:ext>
            </a:extLst>
          </p:cNvPr>
          <p:cNvSpPr>
            <a:spLocks noGrp="1"/>
          </p:cNvSpPr>
          <p:nvPr>
            <p:ph type="title"/>
          </p:nvPr>
        </p:nvSpPr>
        <p:spPr>
          <a:xfrm>
            <a:off x="409904" y="313800"/>
            <a:ext cx="7886700" cy="593341"/>
          </a:xfrm>
        </p:spPr>
        <p:txBody>
          <a:bodyPr>
            <a:normAutofit/>
          </a:bodyPr>
          <a:lstStyle/>
          <a:p>
            <a:r>
              <a:rPr lang="en-GH" sz="2800" b="1" dirty="0">
                <a:solidFill>
                  <a:schemeClr val="tx2">
                    <a:lumMod val="60000"/>
                    <a:lumOff val="40000"/>
                  </a:schemeClr>
                </a:solidFill>
                <a:latin typeface="Bodoni MT" panose="020F0502020204030204" pitchFamily="34" charset="0"/>
              </a:rPr>
              <a:t>PARAMETRER LE SYSTEME</a:t>
            </a:r>
          </a:p>
        </p:txBody>
      </p:sp>
      <p:sp>
        <p:nvSpPr>
          <p:cNvPr id="6" name="TextBox 5">
            <a:extLst>
              <a:ext uri="{FF2B5EF4-FFF2-40B4-BE49-F238E27FC236}">
                <a16:creationId xmlns:a16="http://schemas.microsoft.com/office/drawing/2014/main" id="{A1CEFB78-C072-0447-91B8-05DBD2A47780}"/>
              </a:ext>
            </a:extLst>
          </p:cNvPr>
          <p:cNvSpPr txBox="1"/>
          <p:nvPr/>
        </p:nvSpPr>
        <p:spPr>
          <a:xfrm>
            <a:off x="409904" y="1134993"/>
            <a:ext cx="8244239"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Définir les Types de Profils d’utilisateurs</a:t>
            </a:r>
          </a:p>
        </p:txBody>
      </p:sp>
      <p:pic>
        <p:nvPicPr>
          <p:cNvPr id="5" name="Content Placeholder 4" descr="Graphical user interface, text, application, email&#10;&#10;Description automatically generated">
            <a:extLst>
              <a:ext uri="{FF2B5EF4-FFF2-40B4-BE49-F238E27FC236}">
                <a16:creationId xmlns:a16="http://schemas.microsoft.com/office/drawing/2014/main" id="{78848F95-DF2A-F04C-A944-30ADC109FEFE}"/>
              </a:ext>
            </a:extLst>
          </p:cNvPr>
          <p:cNvPicPr>
            <a:picLocks noGrp="1" noChangeAspect="1"/>
          </p:cNvPicPr>
          <p:nvPr>
            <p:ph idx="1"/>
          </p:nvPr>
        </p:nvPicPr>
        <p:blipFill>
          <a:blip r:embed="rId2"/>
          <a:stretch>
            <a:fillRect/>
          </a:stretch>
        </p:blipFill>
        <p:spPr>
          <a:xfrm>
            <a:off x="409903" y="1701398"/>
            <a:ext cx="8283369" cy="2554915"/>
          </a:xfrm>
        </p:spPr>
      </p:pic>
      <p:cxnSp>
        <p:nvCxnSpPr>
          <p:cNvPr id="7" name="Straight Arrow Connector 6">
            <a:extLst>
              <a:ext uri="{FF2B5EF4-FFF2-40B4-BE49-F238E27FC236}">
                <a16:creationId xmlns:a16="http://schemas.microsoft.com/office/drawing/2014/main" id="{6040F4F2-2D8B-B44C-9240-FD3571DAD0D7}"/>
              </a:ext>
            </a:extLst>
          </p:cNvPr>
          <p:cNvCxnSpPr>
            <a:cxnSpLocks/>
          </p:cNvCxnSpPr>
          <p:nvPr/>
        </p:nvCxnSpPr>
        <p:spPr>
          <a:xfrm flipV="1">
            <a:off x="5921828" y="2710457"/>
            <a:ext cx="1175655" cy="536795"/>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B4147A3-C10A-5344-AA28-78105A24F9D5}"/>
              </a:ext>
            </a:extLst>
          </p:cNvPr>
          <p:cNvCxnSpPr>
            <a:cxnSpLocks/>
          </p:cNvCxnSpPr>
          <p:nvPr/>
        </p:nvCxnSpPr>
        <p:spPr>
          <a:xfrm>
            <a:off x="5921828" y="3247252"/>
            <a:ext cx="1491343" cy="1"/>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58594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80792E-E4E5-E64A-A78B-340B0953F245}"/>
              </a:ext>
            </a:extLst>
          </p:cNvPr>
          <p:cNvSpPr>
            <a:spLocks noGrp="1"/>
          </p:cNvSpPr>
          <p:nvPr>
            <p:ph type="title"/>
          </p:nvPr>
        </p:nvSpPr>
        <p:spPr>
          <a:xfrm>
            <a:off x="409904" y="313800"/>
            <a:ext cx="7886700" cy="593341"/>
          </a:xfrm>
        </p:spPr>
        <p:txBody>
          <a:bodyPr>
            <a:normAutofit/>
          </a:bodyPr>
          <a:lstStyle/>
          <a:p>
            <a:r>
              <a:rPr lang="en-GH" sz="2800" b="1" dirty="0">
                <a:solidFill>
                  <a:schemeClr val="tx2">
                    <a:lumMod val="60000"/>
                    <a:lumOff val="40000"/>
                  </a:schemeClr>
                </a:solidFill>
                <a:latin typeface="Bodoni MT" panose="020F0502020204030204" pitchFamily="34" charset="0"/>
              </a:rPr>
              <a:t>PARAMETRER LE SYSTEME</a:t>
            </a:r>
          </a:p>
        </p:txBody>
      </p:sp>
      <p:sp>
        <p:nvSpPr>
          <p:cNvPr id="6" name="TextBox 5">
            <a:extLst>
              <a:ext uri="{FF2B5EF4-FFF2-40B4-BE49-F238E27FC236}">
                <a16:creationId xmlns:a16="http://schemas.microsoft.com/office/drawing/2014/main" id="{A1CEFB78-C072-0447-91B8-05DBD2A47780}"/>
              </a:ext>
            </a:extLst>
          </p:cNvPr>
          <p:cNvSpPr txBox="1"/>
          <p:nvPr/>
        </p:nvSpPr>
        <p:spPr>
          <a:xfrm>
            <a:off x="409904" y="1134993"/>
            <a:ext cx="8244239"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Ajouter un nouveau Profil d’utilisateur</a:t>
            </a:r>
          </a:p>
        </p:txBody>
      </p:sp>
      <p:pic>
        <p:nvPicPr>
          <p:cNvPr id="10" name="Picture 9">
            <a:extLst>
              <a:ext uri="{FF2B5EF4-FFF2-40B4-BE49-F238E27FC236}">
                <a16:creationId xmlns:a16="http://schemas.microsoft.com/office/drawing/2014/main" id="{B47A2FA6-2D91-F943-AF6C-C2AABE87682B}"/>
              </a:ext>
            </a:extLst>
          </p:cNvPr>
          <p:cNvPicPr>
            <a:picLocks noChangeAspect="1"/>
          </p:cNvPicPr>
          <p:nvPr/>
        </p:nvPicPr>
        <p:blipFill>
          <a:blip r:embed="rId2"/>
          <a:stretch>
            <a:fillRect/>
          </a:stretch>
        </p:blipFill>
        <p:spPr>
          <a:xfrm>
            <a:off x="639348" y="1701398"/>
            <a:ext cx="7657256" cy="4786771"/>
          </a:xfrm>
          <a:prstGeom prst="rect">
            <a:avLst/>
          </a:prstGeom>
        </p:spPr>
      </p:pic>
    </p:spTree>
    <p:extLst>
      <p:ext uri="{BB962C8B-B14F-4D97-AF65-F5344CB8AC3E}">
        <p14:creationId xmlns:p14="http://schemas.microsoft.com/office/powerpoint/2010/main" val="41579734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80792E-E4E5-E64A-A78B-340B0953F245}"/>
              </a:ext>
            </a:extLst>
          </p:cNvPr>
          <p:cNvSpPr>
            <a:spLocks noGrp="1"/>
          </p:cNvSpPr>
          <p:nvPr>
            <p:ph type="title"/>
          </p:nvPr>
        </p:nvSpPr>
        <p:spPr>
          <a:xfrm>
            <a:off x="409904" y="313800"/>
            <a:ext cx="7886700" cy="593341"/>
          </a:xfrm>
        </p:spPr>
        <p:txBody>
          <a:bodyPr>
            <a:normAutofit/>
          </a:bodyPr>
          <a:lstStyle/>
          <a:p>
            <a:r>
              <a:rPr lang="en-GH" sz="2800" b="1" dirty="0">
                <a:solidFill>
                  <a:schemeClr val="tx2">
                    <a:lumMod val="60000"/>
                    <a:lumOff val="40000"/>
                  </a:schemeClr>
                </a:solidFill>
                <a:latin typeface="Bodoni MT" panose="020F0502020204030204" pitchFamily="34" charset="0"/>
              </a:rPr>
              <a:t>PARAMETRER LE SYSTEME</a:t>
            </a:r>
          </a:p>
        </p:txBody>
      </p:sp>
      <p:sp>
        <p:nvSpPr>
          <p:cNvPr id="6" name="TextBox 5">
            <a:extLst>
              <a:ext uri="{FF2B5EF4-FFF2-40B4-BE49-F238E27FC236}">
                <a16:creationId xmlns:a16="http://schemas.microsoft.com/office/drawing/2014/main" id="{A1CEFB78-C072-0447-91B8-05DBD2A47780}"/>
              </a:ext>
            </a:extLst>
          </p:cNvPr>
          <p:cNvSpPr txBox="1"/>
          <p:nvPr/>
        </p:nvSpPr>
        <p:spPr>
          <a:xfrm>
            <a:off x="409904" y="1134993"/>
            <a:ext cx="8244239"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Ajouter un nouveau Profil d’utilisateur</a:t>
            </a:r>
          </a:p>
        </p:txBody>
      </p:sp>
      <p:pic>
        <p:nvPicPr>
          <p:cNvPr id="3" name="Picture 2">
            <a:extLst>
              <a:ext uri="{FF2B5EF4-FFF2-40B4-BE49-F238E27FC236}">
                <a16:creationId xmlns:a16="http://schemas.microsoft.com/office/drawing/2014/main" id="{530F8F20-DA74-2E46-A8C0-F1C76B7AE8C0}"/>
              </a:ext>
            </a:extLst>
          </p:cNvPr>
          <p:cNvPicPr>
            <a:picLocks noChangeAspect="1"/>
          </p:cNvPicPr>
          <p:nvPr/>
        </p:nvPicPr>
        <p:blipFill>
          <a:blip r:embed="rId2"/>
          <a:stretch>
            <a:fillRect/>
          </a:stretch>
        </p:blipFill>
        <p:spPr>
          <a:xfrm>
            <a:off x="1306286" y="1701399"/>
            <a:ext cx="6531428" cy="4546254"/>
          </a:xfrm>
          <a:prstGeom prst="rect">
            <a:avLst/>
          </a:prstGeom>
        </p:spPr>
      </p:pic>
    </p:spTree>
    <p:extLst>
      <p:ext uri="{BB962C8B-B14F-4D97-AF65-F5344CB8AC3E}">
        <p14:creationId xmlns:p14="http://schemas.microsoft.com/office/powerpoint/2010/main" val="143475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80792E-E4E5-E64A-A78B-340B0953F245}"/>
              </a:ext>
            </a:extLst>
          </p:cNvPr>
          <p:cNvSpPr>
            <a:spLocks noGrp="1"/>
          </p:cNvSpPr>
          <p:nvPr>
            <p:ph type="title"/>
          </p:nvPr>
        </p:nvSpPr>
        <p:spPr>
          <a:xfrm>
            <a:off x="409904" y="313800"/>
            <a:ext cx="7886700" cy="593341"/>
          </a:xfrm>
        </p:spPr>
        <p:txBody>
          <a:bodyPr>
            <a:normAutofit/>
          </a:bodyPr>
          <a:lstStyle/>
          <a:p>
            <a:r>
              <a:rPr lang="en-GH" sz="2800" b="1" dirty="0">
                <a:solidFill>
                  <a:schemeClr val="tx2">
                    <a:lumMod val="60000"/>
                    <a:lumOff val="40000"/>
                  </a:schemeClr>
                </a:solidFill>
                <a:latin typeface="Bodoni MT" panose="020F0502020204030204" pitchFamily="34" charset="0"/>
              </a:rPr>
              <a:t>PARAMETRER LE SYSTEME</a:t>
            </a:r>
          </a:p>
        </p:txBody>
      </p:sp>
      <p:sp>
        <p:nvSpPr>
          <p:cNvPr id="6" name="TextBox 5">
            <a:extLst>
              <a:ext uri="{FF2B5EF4-FFF2-40B4-BE49-F238E27FC236}">
                <a16:creationId xmlns:a16="http://schemas.microsoft.com/office/drawing/2014/main" id="{A1CEFB78-C072-0447-91B8-05DBD2A47780}"/>
              </a:ext>
            </a:extLst>
          </p:cNvPr>
          <p:cNvSpPr txBox="1"/>
          <p:nvPr/>
        </p:nvSpPr>
        <p:spPr>
          <a:xfrm>
            <a:off x="409904" y="1134993"/>
            <a:ext cx="8244239"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Ajouter un nouveau Profil d’utilisateur</a:t>
            </a:r>
          </a:p>
        </p:txBody>
      </p:sp>
      <p:pic>
        <p:nvPicPr>
          <p:cNvPr id="5" name="Picture 4">
            <a:extLst>
              <a:ext uri="{FF2B5EF4-FFF2-40B4-BE49-F238E27FC236}">
                <a16:creationId xmlns:a16="http://schemas.microsoft.com/office/drawing/2014/main" id="{B3090EC7-DFE7-B841-8FC7-AB89B96277FF}"/>
              </a:ext>
            </a:extLst>
          </p:cNvPr>
          <p:cNvPicPr>
            <a:picLocks noChangeAspect="1"/>
          </p:cNvPicPr>
          <p:nvPr/>
        </p:nvPicPr>
        <p:blipFill>
          <a:blip r:embed="rId2"/>
          <a:stretch>
            <a:fillRect/>
          </a:stretch>
        </p:blipFill>
        <p:spPr>
          <a:xfrm>
            <a:off x="1233564" y="1731640"/>
            <a:ext cx="6919835" cy="4812560"/>
          </a:xfrm>
          <a:prstGeom prst="rect">
            <a:avLst/>
          </a:prstGeom>
        </p:spPr>
      </p:pic>
    </p:spTree>
    <p:extLst>
      <p:ext uri="{BB962C8B-B14F-4D97-AF65-F5344CB8AC3E}">
        <p14:creationId xmlns:p14="http://schemas.microsoft.com/office/powerpoint/2010/main" val="9444791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80792E-E4E5-E64A-A78B-340B0953F245}"/>
              </a:ext>
            </a:extLst>
          </p:cNvPr>
          <p:cNvSpPr>
            <a:spLocks noGrp="1"/>
          </p:cNvSpPr>
          <p:nvPr>
            <p:ph type="title"/>
          </p:nvPr>
        </p:nvSpPr>
        <p:spPr>
          <a:xfrm>
            <a:off x="409904" y="313800"/>
            <a:ext cx="7886700" cy="593341"/>
          </a:xfrm>
        </p:spPr>
        <p:txBody>
          <a:bodyPr>
            <a:normAutofit/>
          </a:bodyPr>
          <a:lstStyle/>
          <a:p>
            <a:r>
              <a:rPr lang="en-GH" sz="2800" b="1" dirty="0">
                <a:solidFill>
                  <a:schemeClr val="tx2">
                    <a:lumMod val="60000"/>
                    <a:lumOff val="40000"/>
                  </a:schemeClr>
                </a:solidFill>
                <a:latin typeface="Bodoni MT" panose="020F0502020204030204" pitchFamily="34" charset="0"/>
              </a:rPr>
              <a:t>PARAMETRER LE SYSTEME</a:t>
            </a:r>
          </a:p>
        </p:txBody>
      </p:sp>
      <p:sp>
        <p:nvSpPr>
          <p:cNvPr id="6" name="TextBox 5">
            <a:extLst>
              <a:ext uri="{FF2B5EF4-FFF2-40B4-BE49-F238E27FC236}">
                <a16:creationId xmlns:a16="http://schemas.microsoft.com/office/drawing/2014/main" id="{A1CEFB78-C072-0447-91B8-05DBD2A47780}"/>
              </a:ext>
            </a:extLst>
          </p:cNvPr>
          <p:cNvSpPr txBox="1"/>
          <p:nvPr/>
        </p:nvSpPr>
        <p:spPr>
          <a:xfrm>
            <a:off x="409904" y="948631"/>
            <a:ext cx="8244239"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Modifier les droits  d’accés d’un Profil</a:t>
            </a:r>
          </a:p>
        </p:txBody>
      </p:sp>
      <p:pic>
        <p:nvPicPr>
          <p:cNvPr id="5" name="Picture 4" descr="Graphical user interface, text, application, email&#10;&#10;Description automatically generated">
            <a:extLst>
              <a:ext uri="{FF2B5EF4-FFF2-40B4-BE49-F238E27FC236}">
                <a16:creationId xmlns:a16="http://schemas.microsoft.com/office/drawing/2014/main" id="{E89703F4-3EC4-BE4D-A8F1-1C9FD2F80425}"/>
              </a:ext>
            </a:extLst>
          </p:cNvPr>
          <p:cNvPicPr>
            <a:picLocks noChangeAspect="1"/>
          </p:cNvPicPr>
          <p:nvPr/>
        </p:nvPicPr>
        <p:blipFill>
          <a:blip r:embed="rId2"/>
          <a:stretch>
            <a:fillRect/>
          </a:stretch>
        </p:blipFill>
        <p:spPr>
          <a:xfrm>
            <a:off x="409905" y="1328675"/>
            <a:ext cx="4689136" cy="2938525"/>
          </a:xfrm>
          <a:prstGeom prst="rect">
            <a:avLst/>
          </a:prstGeom>
        </p:spPr>
      </p:pic>
      <p:pic>
        <p:nvPicPr>
          <p:cNvPr id="12" name="Picture 11">
            <a:extLst>
              <a:ext uri="{FF2B5EF4-FFF2-40B4-BE49-F238E27FC236}">
                <a16:creationId xmlns:a16="http://schemas.microsoft.com/office/drawing/2014/main" id="{7FDFA2EC-D367-AF43-8CAD-27654EF68FA3}"/>
              </a:ext>
            </a:extLst>
          </p:cNvPr>
          <p:cNvPicPr>
            <a:picLocks noChangeAspect="1"/>
          </p:cNvPicPr>
          <p:nvPr/>
        </p:nvPicPr>
        <p:blipFill>
          <a:blip r:embed="rId3"/>
          <a:stretch>
            <a:fillRect/>
          </a:stretch>
        </p:blipFill>
        <p:spPr>
          <a:xfrm>
            <a:off x="4082143" y="3410349"/>
            <a:ext cx="4572000" cy="3144737"/>
          </a:xfrm>
          <a:prstGeom prst="rect">
            <a:avLst/>
          </a:prstGeom>
        </p:spPr>
      </p:pic>
    </p:spTree>
    <p:extLst>
      <p:ext uri="{BB962C8B-B14F-4D97-AF65-F5344CB8AC3E}">
        <p14:creationId xmlns:p14="http://schemas.microsoft.com/office/powerpoint/2010/main" val="42598725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80792E-E4E5-E64A-A78B-340B0953F245}"/>
              </a:ext>
            </a:extLst>
          </p:cNvPr>
          <p:cNvSpPr>
            <a:spLocks noGrp="1"/>
          </p:cNvSpPr>
          <p:nvPr>
            <p:ph type="title"/>
          </p:nvPr>
        </p:nvSpPr>
        <p:spPr>
          <a:xfrm>
            <a:off x="409904" y="313800"/>
            <a:ext cx="7886700" cy="593341"/>
          </a:xfrm>
        </p:spPr>
        <p:txBody>
          <a:bodyPr>
            <a:normAutofit/>
          </a:bodyPr>
          <a:lstStyle/>
          <a:p>
            <a:r>
              <a:rPr lang="en-GH" sz="2800" b="1" dirty="0">
                <a:solidFill>
                  <a:schemeClr val="tx2">
                    <a:lumMod val="60000"/>
                    <a:lumOff val="40000"/>
                  </a:schemeClr>
                </a:solidFill>
                <a:latin typeface="Bodoni MT" panose="020F0502020204030204" pitchFamily="34" charset="0"/>
              </a:rPr>
              <a:t>PARAMETRER LE SYSTEME</a:t>
            </a:r>
          </a:p>
        </p:txBody>
      </p:sp>
      <p:sp>
        <p:nvSpPr>
          <p:cNvPr id="6" name="TextBox 5">
            <a:extLst>
              <a:ext uri="{FF2B5EF4-FFF2-40B4-BE49-F238E27FC236}">
                <a16:creationId xmlns:a16="http://schemas.microsoft.com/office/drawing/2014/main" id="{A1CEFB78-C072-0447-91B8-05DBD2A47780}"/>
              </a:ext>
            </a:extLst>
          </p:cNvPr>
          <p:cNvSpPr txBox="1"/>
          <p:nvPr/>
        </p:nvSpPr>
        <p:spPr>
          <a:xfrm>
            <a:off x="409904" y="1134993"/>
            <a:ext cx="8244239"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Identifier les utilisateurs</a:t>
            </a:r>
          </a:p>
        </p:txBody>
      </p:sp>
      <p:pic>
        <p:nvPicPr>
          <p:cNvPr id="5" name="Picture 4">
            <a:extLst>
              <a:ext uri="{FF2B5EF4-FFF2-40B4-BE49-F238E27FC236}">
                <a16:creationId xmlns:a16="http://schemas.microsoft.com/office/drawing/2014/main" id="{36AD0A57-A2BB-5144-9E4E-D3BF30319B3A}"/>
              </a:ext>
            </a:extLst>
          </p:cNvPr>
          <p:cNvPicPr>
            <a:picLocks noChangeAspect="1"/>
          </p:cNvPicPr>
          <p:nvPr/>
        </p:nvPicPr>
        <p:blipFill>
          <a:blip r:embed="rId2"/>
          <a:stretch>
            <a:fillRect/>
          </a:stretch>
        </p:blipFill>
        <p:spPr>
          <a:xfrm>
            <a:off x="409904" y="1804414"/>
            <a:ext cx="8154674" cy="4160957"/>
          </a:xfrm>
          <a:prstGeom prst="rect">
            <a:avLst/>
          </a:prstGeom>
        </p:spPr>
      </p:pic>
      <p:cxnSp>
        <p:nvCxnSpPr>
          <p:cNvPr id="7" name="Straight Arrow Connector 6">
            <a:extLst>
              <a:ext uri="{FF2B5EF4-FFF2-40B4-BE49-F238E27FC236}">
                <a16:creationId xmlns:a16="http://schemas.microsoft.com/office/drawing/2014/main" id="{E6FD197F-D9AD-FD48-B051-BD7BB2280487}"/>
              </a:ext>
            </a:extLst>
          </p:cNvPr>
          <p:cNvCxnSpPr>
            <a:cxnSpLocks/>
          </p:cNvCxnSpPr>
          <p:nvPr/>
        </p:nvCxnSpPr>
        <p:spPr>
          <a:xfrm flipV="1">
            <a:off x="5921828" y="2231571"/>
            <a:ext cx="1480458" cy="1015682"/>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BC8DF4D-4F49-124E-86E4-D035A3B31433}"/>
              </a:ext>
            </a:extLst>
          </p:cNvPr>
          <p:cNvCxnSpPr>
            <a:cxnSpLocks/>
          </p:cNvCxnSpPr>
          <p:nvPr/>
        </p:nvCxnSpPr>
        <p:spPr>
          <a:xfrm flipV="1">
            <a:off x="5921828" y="3004457"/>
            <a:ext cx="1970315" cy="242796"/>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84437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4CE5867-357B-6C42-9D2F-1EAEC446893E}"/>
              </a:ext>
            </a:extLst>
          </p:cNvPr>
          <p:cNvSpPr>
            <a:spLocks noGrp="1"/>
          </p:cNvSpPr>
          <p:nvPr>
            <p:ph type="title"/>
          </p:nvPr>
        </p:nvSpPr>
        <p:spPr>
          <a:xfrm>
            <a:off x="409904" y="313800"/>
            <a:ext cx="7886700" cy="593341"/>
          </a:xfrm>
        </p:spPr>
        <p:txBody>
          <a:bodyPr>
            <a:normAutofit/>
          </a:bodyPr>
          <a:lstStyle/>
          <a:p>
            <a:r>
              <a:rPr lang="en-GH" sz="2800" b="1" dirty="0">
                <a:solidFill>
                  <a:schemeClr val="tx2">
                    <a:lumMod val="60000"/>
                    <a:lumOff val="40000"/>
                  </a:schemeClr>
                </a:solidFill>
                <a:latin typeface="Bodoni MT" panose="020F0502020204030204" pitchFamily="34" charset="0"/>
              </a:rPr>
              <a:t>IDENTIFICATION DES UTILISATEURS</a:t>
            </a:r>
          </a:p>
        </p:txBody>
      </p:sp>
      <p:sp>
        <p:nvSpPr>
          <p:cNvPr id="11" name="TextBox 10">
            <a:extLst>
              <a:ext uri="{FF2B5EF4-FFF2-40B4-BE49-F238E27FC236}">
                <a16:creationId xmlns:a16="http://schemas.microsoft.com/office/drawing/2014/main" id="{915427D1-E660-3242-8E50-9B72B751CBF8}"/>
              </a:ext>
            </a:extLst>
          </p:cNvPr>
          <p:cNvSpPr txBox="1"/>
          <p:nvPr/>
        </p:nvSpPr>
        <p:spPr>
          <a:xfrm>
            <a:off x="409904" y="1134993"/>
            <a:ext cx="7728619"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Ajouter un Utilisateur</a:t>
            </a:r>
          </a:p>
        </p:txBody>
      </p:sp>
      <p:pic>
        <p:nvPicPr>
          <p:cNvPr id="4" name="Picture 3">
            <a:extLst>
              <a:ext uri="{FF2B5EF4-FFF2-40B4-BE49-F238E27FC236}">
                <a16:creationId xmlns:a16="http://schemas.microsoft.com/office/drawing/2014/main" id="{5C5E607F-B95A-674F-AFE0-7B81698B7CF4}"/>
              </a:ext>
            </a:extLst>
          </p:cNvPr>
          <p:cNvPicPr>
            <a:picLocks noChangeAspect="1"/>
          </p:cNvPicPr>
          <p:nvPr/>
        </p:nvPicPr>
        <p:blipFill>
          <a:blip r:embed="rId2"/>
          <a:stretch>
            <a:fillRect/>
          </a:stretch>
        </p:blipFill>
        <p:spPr>
          <a:xfrm>
            <a:off x="872956" y="2085188"/>
            <a:ext cx="7476937" cy="2878698"/>
          </a:xfrm>
          <a:prstGeom prst="rect">
            <a:avLst/>
          </a:prstGeom>
        </p:spPr>
      </p:pic>
    </p:spTree>
    <p:extLst>
      <p:ext uri="{BB962C8B-B14F-4D97-AF65-F5344CB8AC3E}">
        <p14:creationId xmlns:p14="http://schemas.microsoft.com/office/powerpoint/2010/main" val="36805469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15427D1-E660-3242-8E50-9B72B751CBF8}"/>
              </a:ext>
            </a:extLst>
          </p:cNvPr>
          <p:cNvSpPr txBox="1"/>
          <p:nvPr/>
        </p:nvSpPr>
        <p:spPr>
          <a:xfrm>
            <a:off x="409904" y="988261"/>
            <a:ext cx="7728619"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Modifier les droits d’un Utilisateur</a:t>
            </a:r>
          </a:p>
        </p:txBody>
      </p:sp>
      <p:pic>
        <p:nvPicPr>
          <p:cNvPr id="3" name="Picture 2">
            <a:extLst>
              <a:ext uri="{FF2B5EF4-FFF2-40B4-BE49-F238E27FC236}">
                <a16:creationId xmlns:a16="http://schemas.microsoft.com/office/drawing/2014/main" id="{CE73DF71-4EA3-CC4A-B91A-61E615AD48A2}"/>
              </a:ext>
            </a:extLst>
          </p:cNvPr>
          <p:cNvPicPr>
            <a:picLocks noChangeAspect="1"/>
          </p:cNvPicPr>
          <p:nvPr/>
        </p:nvPicPr>
        <p:blipFill>
          <a:blip r:embed="rId2"/>
          <a:stretch>
            <a:fillRect/>
          </a:stretch>
        </p:blipFill>
        <p:spPr>
          <a:xfrm>
            <a:off x="1114276" y="1760860"/>
            <a:ext cx="7029462" cy="2604311"/>
          </a:xfrm>
          <a:prstGeom prst="rect">
            <a:avLst/>
          </a:prstGeom>
        </p:spPr>
      </p:pic>
      <p:sp>
        <p:nvSpPr>
          <p:cNvPr id="13" name="Title 1">
            <a:extLst>
              <a:ext uri="{FF2B5EF4-FFF2-40B4-BE49-F238E27FC236}">
                <a16:creationId xmlns:a16="http://schemas.microsoft.com/office/drawing/2014/main" id="{6D9793F5-9B3D-9D47-B95C-50B49BDBD365}"/>
              </a:ext>
            </a:extLst>
          </p:cNvPr>
          <p:cNvSpPr txBox="1">
            <a:spLocks/>
          </p:cNvSpPr>
          <p:nvPr/>
        </p:nvSpPr>
        <p:spPr>
          <a:xfrm>
            <a:off x="409904" y="313800"/>
            <a:ext cx="7886700" cy="593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H" sz="2800" b="1">
                <a:solidFill>
                  <a:schemeClr val="tx2">
                    <a:lumMod val="60000"/>
                    <a:lumOff val="40000"/>
                  </a:schemeClr>
                </a:solidFill>
                <a:latin typeface="Bodoni MT" panose="020F0502020204030204" pitchFamily="34" charset="0"/>
              </a:rPr>
              <a:t>PARAMETRER LE SYSTEME</a:t>
            </a:r>
            <a:endParaRPr lang="en-GH" sz="2800" b="1" dirty="0">
              <a:solidFill>
                <a:schemeClr val="tx2">
                  <a:lumMod val="60000"/>
                  <a:lumOff val="40000"/>
                </a:schemeClr>
              </a:solidFill>
              <a:latin typeface="Bodoni MT" panose="020F0502020204030204" pitchFamily="34" charset="0"/>
            </a:endParaRPr>
          </a:p>
        </p:txBody>
      </p:sp>
    </p:spTree>
    <p:extLst>
      <p:ext uri="{BB962C8B-B14F-4D97-AF65-F5344CB8AC3E}">
        <p14:creationId xmlns:p14="http://schemas.microsoft.com/office/powerpoint/2010/main" val="27023950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15427D1-E660-3242-8E50-9B72B751CBF8}"/>
              </a:ext>
            </a:extLst>
          </p:cNvPr>
          <p:cNvSpPr txBox="1"/>
          <p:nvPr/>
        </p:nvSpPr>
        <p:spPr>
          <a:xfrm>
            <a:off x="409904" y="988261"/>
            <a:ext cx="7728619"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Paramétrer les fonctions de base</a:t>
            </a:r>
          </a:p>
        </p:txBody>
      </p:sp>
      <p:sp>
        <p:nvSpPr>
          <p:cNvPr id="13" name="Title 1">
            <a:extLst>
              <a:ext uri="{FF2B5EF4-FFF2-40B4-BE49-F238E27FC236}">
                <a16:creationId xmlns:a16="http://schemas.microsoft.com/office/drawing/2014/main" id="{6D9793F5-9B3D-9D47-B95C-50B49BDBD365}"/>
              </a:ext>
            </a:extLst>
          </p:cNvPr>
          <p:cNvSpPr txBox="1">
            <a:spLocks/>
          </p:cNvSpPr>
          <p:nvPr/>
        </p:nvSpPr>
        <p:spPr>
          <a:xfrm>
            <a:off x="409904" y="313800"/>
            <a:ext cx="7886700" cy="593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H" sz="2800" b="1">
                <a:solidFill>
                  <a:schemeClr val="tx2">
                    <a:lumMod val="60000"/>
                    <a:lumOff val="40000"/>
                  </a:schemeClr>
                </a:solidFill>
                <a:latin typeface="Bodoni MT" panose="020F0502020204030204" pitchFamily="34" charset="0"/>
              </a:rPr>
              <a:t>PARAMETRER LE SYSTEME</a:t>
            </a:r>
            <a:endParaRPr lang="en-GH" sz="2800" b="1" dirty="0">
              <a:solidFill>
                <a:schemeClr val="tx2">
                  <a:lumMod val="60000"/>
                  <a:lumOff val="40000"/>
                </a:schemeClr>
              </a:solidFill>
              <a:latin typeface="Bodoni MT" panose="020F0502020204030204" pitchFamily="34" charset="0"/>
            </a:endParaRPr>
          </a:p>
        </p:txBody>
      </p:sp>
      <p:pic>
        <p:nvPicPr>
          <p:cNvPr id="4" name="Picture 3">
            <a:extLst>
              <a:ext uri="{FF2B5EF4-FFF2-40B4-BE49-F238E27FC236}">
                <a16:creationId xmlns:a16="http://schemas.microsoft.com/office/drawing/2014/main" id="{01C8B578-43FD-0244-B4E2-1351787596BB}"/>
              </a:ext>
            </a:extLst>
          </p:cNvPr>
          <p:cNvPicPr>
            <a:picLocks noChangeAspect="1"/>
          </p:cNvPicPr>
          <p:nvPr/>
        </p:nvPicPr>
        <p:blipFill>
          <a:blip r:embed="rId2"/>
          <a:stretch>
            <a:fillRect/>
          </a:stretch>
        </p:blipFill>
        <p:spPr>
          <a:xfrm>
            <a:off x="552336" y="1841279"/>
            <a:ext cx="7744268" cy="3601579"/>
          </a:xfrm>
          <a:prstGeom prst="rect">
            <a:avLst/>
          </a:prstGeom>
        </p:spPr>
      </p:pic>
    </p:spTree>
    <p:extLst>
      <p:ext uri="{BB962C8B-B14F-4D97-AF65-F5344CB8AC3E}">
        <p14:creationId xmlns:p14="http://schemas.microsoft.com/office/powerpoint/2010/main" val="24212948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aphical user interface, text, application, email, website&#10;&#10;Description automatically generated">
            <a:extLst>
              <a:ext uri="{FF2B5EF4-FFF2-40B4-BE49-F238E27FC236}">
                <a16:creationId xmlns:a16="http://schemas.microsoft.com/office/drawing/2014/main" id="{9989B979-3ECC-3148-AD10-219C1200112F}"/>
              </a:ext>
            </a:extLst>
          </p:cNvPr>
          <p:cNvPicPr>
            <a:picLocks noChangeAspect="1"/>
          </p:cNvPicPr>
          <p:nvPr/>
        </p:nvPicPr>
        <p:blipFill>
          <a:blip r:embed="rId2"/>
          <a:stretch>
            <a:fillRect/>
          </a:stretch>
        </p:blipFill>
        <p:spPr>
          <a:xfrm>
            <a:off x="500741" y="2764711"/>
            <a:ext cx="8142518" cy="3353502"/>
          </a:xfrm>
          <a:prstGeom prst="rect">
            <a:avLst/>
          </a:prstGeom>
        </p:spPr>
      </p:pic>
      <p:sp>
        <p:nvSpPr>
          <p:cNvPr id="6" name="Title 1">
            <a:extLst>
              <a:ext uri="{FF2B5EF4-FFF2-40B4-BE49-F238E27FC236}">
                <a16:creationId xmlns:a16="http://schemas.microsoft.com/office/drawing/2014/main" id="{D7F41DBD-A850-454B-8AF4-D363A5A45EB2}"/>
              </a:ext>
            </a:extLst>
          </p:cNvPr>
          <p:cNvSpPr txBox="1">
            <a:spLocks/>
          </p:cNvSpPr>
          <p:nvPr/>
        </p:nvSpPr>
        <p:spPr>
          <a:xfrm>
            <a:off x="586174" y="512104"/>
            <a:ext cx="7886700" cy="593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H" sz="2800" b="1" dirty="0">
                <a:solidFill>
                  <a:schemeClr val="tx2">
                    <a:lumMod val="60000"/>
                    <a:lumOff val="40000"/>
                  </a:schemeClr>
                </a:solidFill>
                <a:latin typeface="Bodoni MT" panose="020F0502020204030204" pitchFamily="34" charset="0"/>
              </a:rPr>
              <a:t>LE PORTEFEUILLE DE PROJETS</a:t>
            </a:r>
          </a:p>
        </p:txBody>
      </p:sp>
      <p:sp>
        <p:nvSpPr>
          <p:cNvPr id="4" name="TextBox 3">
            <a:extLst>
              <a:ext uri="{FF2B5EF4-FFF2-40B4-BE49-F238E27FC236}">
                <a16:creationId xmlns:a16="http://schemas.microsoft.com/office/drawing/2014/main" id="{5023DD9E-815F-DD4D-9D44-A97F0AC4F7C7}"/>
              </a:ext>
            </a:extLst>
          </p:cNvPr>
          <p:cNvSpPr txBox="1"/>
          <p:nvPr/>
        </p:nvSpPr>
        <p:spPr>
          <a:xfrm>
            <a:off x="500741" y="1297450"/>
            <a:ext cx="7728619"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Présentation des projets et des programmes</a:t>
            </a:r>
          </a:p>
        </p:txBody>
      </p:sp>
      <p:cxnSp>
        <p:nvCxnSpPr>
          <p:cNvPr id="7" name="Straight Arrow Connector 6">
            <a:extLst>
              <a:ext uri="{FF2B5EF4-FFF2-40B4-BE49-F238E27FC236}">
                <a16:creationId xmlns:a16="http://schemas.microsoft.com/office/drawing/2014/main" id="{AC69616E-FA81-3043-972F-737CAD7EAF39}"/>
              </a:ext>
            </a:extLst>
          </p:cNvPr>
          <p:cNvCxnSpPr>
            <a:cxnSpLocks/>
          </p:cNvCxnSpPr>
          <p:nvPr/>
        </p:nvCxnSpPr>
        <p:spPr>
          <a:xfrm flipV="1">
            <a:off x="5540829" y="3733800"/>
            <a:ext cx="1001486" cy="823527"/>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A2B0EBDA-EF41-364E-8FBE-90073592F32D}"/>
              </a:ext>
            </a:extLst>
          </p:cNvPr>
          <p:cNvSpPr/>
          <p:nvPr/>
        </p:nvSpPr>
        <p:spPr>
          <a:xfrm>
            <a:off x="586174" y="1893319"/>
            <a:ext cx="8057085" cy="523220"/>
          </a:xfrm>
          <a:prstGeom prst="rect">
            <a:avLst/>
          </a:prstGeom>
        </p:spPr>
        <p:txBody>
          <a:bodyPr wrap="square">
            <a:spAutoFit/>
          </a:bodyPr>
          <a:lstStyle/>
          <a:p>
            <a:r>
              <a:rPr lang="en-GH" sz="1400" dirty="0"/>
              <a:t>Les projets sont présentés avec leur date de demarrage et date de fin, leur budget et le nombre d’indicateurs renseignés</a:t>
            </a:r>
          </a:p>
        </p:txBody>
      </p:sp>
    </p:spTree>
    <p:extLst>
      <p:ext uri="{BB962C8B-B14F-4D97-AF65-F5344CB8AC3E}">
        <p14:creationId xmlns:p14="http://schemas.microsoft.com/office/powerpoint/2010/main" val="31923121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7F41DBD-A850-454B-8AF4-D363A5A45EB2}"/>
              </a:ext>
            </a:extLst>
          </p:cNvPr>
          <p:cNvSpPr txBox="1">
            <a:spLocks/>
          </p:cNvSpPr>
          <p:nvPr/>
        </p:nvSpPr>
        <p:spPr>
          <a:xfrm>
            <a:off x="586174" y="512104"/>
            <a:ext cx="7886700" cy="593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H" sz="2800" b="1" dirty="0">
                <a:solidFill>
                  <a:schemeClr val="tx2">
                    <a:lumMod val="60000"/>
                    <a:lumOff val="40000"/>
                  </a:schemeClr>
                </a:solidFill>
                <a:latin typeface="Bodoni MT" panose="020F0502020204030204" pitchFamily="34" charset="0"/>
              </a:rPr>
              <a:t>LE PORTEFEUILLE DE PROJETS</a:t>
            </a:r>
          </a:p>
        </p:txBody>
      </p:sp>
      <p:sp>
        <p:nvSpPr>
          <p:cNvPr id="4" name="TextBox 3">
            <a:extLst>
              <a:ext uri="{FF2B5EF4-FFF2-40B4-BE49-F238E27FC236}">
                <a16:creationId xmlns:a16="http://schemas.microsoft.com/office/drawing/2014/main" id="{5023DD9E-815F-DD4D-9D44-A97F0AC4F7C7}"/>
              </a:ext>
            </a:extLst>
          </p:cNvPr>
          <p:cNvSpPr txBox="1"/>
          <p:nvPr/>
        </p:nvSpPr>
        <p:spPr>
          <a:xfrm>
            <a:off x="500741" y="1297450"/>
            <a:ext cx="7728619"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Présentation le détail des programmes</a:t>
            </a:r>
          </a:p>
        </p:txBody>
      </p:sp>
      <p:sp>
        <p:nvSpPr>
          <p:cNvPr id="8" name="Rectangle 7">
            <a:extLst>
              <a:ext uri="{FF2B5EF4-FFF2-40B4-BE49-F238E27FC236}">
                <a16:creationId xmlns:a16="http://schemas.microsoft.com/office/drawing/2014/main" id="{A2B0EBDA-EF41-364E-8FBE-90073592F32D}"/>
              </a:ext>
            </a:extLst>
          </p:cNvPr>
          <p:cNvSpPr/>
          <p:nvPr/>
        </p:nvSpPr>
        <p:spPr>
          <a:xfrm>
            <a:off x="543457" y="1745769"/>
            <a:ext cx="8057085" cy="523220"/>
          </a:xfrm>
          <a:prstGeom prst="rect">
            <a:avLst/>
          </a:prstGeom>
        </p:spPr>
        <p:txBody>
          <a:bodyPr wrap="square">
            <a:spAutoFit/>
          </a:bodyPr>
          <a:lstStyle/>
          <a:p>
            <a:r>
              <a:rPr lang="en-GH" sz="1400" dirty="0"/>
              <a:t>Les détails présentés sont le nom, la description, les différents projets et les indicateurs renseignés </a:t>
            </a:r>
          </a:p>
        </p:txBody>
      </p:sp>
      <p:pic>
        <p:nvPicPr>
          <p:cNvPr id="9" name="Picture 8" descr="Graphical user interface, text, application, email&#10;&#10;Description automatically generated">
            <a:extLst>
              <a:ext uri="{FF2B5EF4-FFF2-40B4-BE49-F238E27FC236}">
                <a16:creationId xmlns:a16="http://schemas.microsoft.com/office/drawing/2014/main" id="{1DEA48AF-798F-1845-86DA-B2302E1FAED0}"/>
              </a:ext>
            </a:extLst>
          </p:cNvPr>
          <p:cNvPicPr>
            <a:picLocks noChangeAspect="1"/>
          </p:cNvPicPr>
          <p:nvPr/>
        </p:nvPicPr>
        <p:blipFill>
          <a:blip r:embed="rId2"/>
          <a:stretch>
            <a:fillRect/>
          </a:stretch>
        </p:blipFill>
        <p:spPr>
          <a:xfrm>
            <a:off x="1469571" y="2378754"/>
            <a:ext cx="6553199" cy="4157844"/>
          </a:xfrm>
          <a:prstGeom prst="rect">
            <a:avLst/>
          </a:prstGeom>
        </p:spPr>
      </p:pic>
    </p:spTree>
    <p:extLst>
      <p:ext uri="{BB962C8B-B14F-4D97-AF65-F5344CB8AC3E}">
        <p14:creationId xmlns:p14="http://schemas.microsoft.com/office/powerpoint/2010/main" val="4590407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7F41DBD-A850-454B-8AF4-D363A5A45EB2}"/>
              </a:ext>
            </a:extLst>
          </p:cNvPr>
          <p:cNvSpPr txBox="1">
            <a:spLocks/>
          </p:cNvSpPr>
          <p:nvPr/>
        </p:nvSpPr>
        <p:spPr>
          <a:xfrm>
            <a:off x="586174" y="512104"/>
            <a:ext cx="7886700" cy="593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H" sz="2800" b="1" dirty="0">
                <a:solidFill>
                  <a:schemeClr val="tx2">
                    <a:lumMod val="60000"/>
                    <a:lumOff val="40000"/>
                  </a:schemeClr>
                </a:solidFill>
                <a:latin typeface="Bodoni MT" panose="020F0502020204030204" pitchFamily="34" charset="0"/>
              </a:rPr>
              <a:t>LE PORTEFEUILLE DE PROJETS</a:t>
            </a:r>
          </a:p>
        </p:txBody>
      </p:sp>
      <p:sp>
        <p:nvSpPr>
          <p:cNvPr id="4" name="TextBox 3">
            <a:extLst>
              <a:ext uri="{FF2B5EF4-FFF2-40B4-BE49-F238E27FC236}">
                <a16:creationId xmlns:a16="http://schemas.microsoft.com/office/drawing/2014/main" id="{5023DD9E-815F-DD4D-9D44-A97F0AC4F7C7}"/>
              </a:ext>
            </a:extLst>
          </p:cNvPr>
          <p:cNvSpPr txBox="1"/>
          <p:nvPr/>
        </p:nvSpPr>
        <p:spPr>
          <a:xfrm>
            <a:off x="500741" y="1297450"/>
            <a:ext cx="7728619"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Créer un nouveau projet</a:t>
            </a:r>
          </a:p>
        </p:txBody>
      </p:sp>
      <p:sp>
        <p:nvSpPr>
          <p:cNvPr id="8" name="Rectangle 7">
            <a:extLst>
              <a:ext uri="{FF2B5EF4-FFF2-40B4-BE49-F238E27FC236}">
                <a16:creationId xmlns:a16="http://schemas.microsoft.com/office/drawing/2014/main" id="{A2B0EBDA-EF41-364E-8FBE-90073592F32D}"/>
              </a:ext>
            </a:extLst>
          </p:cNvPr>
          <p:cNvSpPr/>
          <p:nvPr/>
        </p:nvSpPr>
        <p:spPr>
          <a:xfrm>
            <a:off x="543457" y="1745769"/>
            <a:ext cx="8057085" cy="738664"/>
          </a:xfrm>
          <a:prstGeom prst="rect">
            <a:avLst/>
          </a:prstGeom>
        </p:spPr>
        <p:txBody>
          <a:bodyPr wrap="square">
            <a:spAutoFit/>
          </a:bodyPr>
          <a:lstStyle/>
          <a:p>
            <a:r>
              <a:rPr lang="en-GH" sz="1400" dirty="0"/>
              <a:t>Les détails reseignés pour un projet: Programme, Reference, Intitulé, Date Début et Fin, Cout, Nombre Beneficiaires, Domaines d’intervention, Zone d’intervention, Objectif Global, </a:t>
            </a:r>
            <a:r>
              <a:rPr lang="en-GH" sz="1400"/>
              <a:t>Objectif Specifique, Resultats attendus</a:t>
            </a:r>
            <a:endParaRPr lang="en-GH" sz="1400" dirty="0"/>
          </a:p>
        </p:txBody>
      </p:sp>
      <p:pic>
        <p:nvPicPr>
          <p:cNvPr id="7" name="Content Placeholder 4" descr="Graphical user interface, text, application, email&#10;&#10;Description automatically generated">
            <a:extLst>
              <a:ext uri="{FF2B5EF4-FFF2-40B4-BE49-F238E27FC236}">
                <a16:creationId xmlns:a16="http://schemas.microsoft.com/office/drawing/2014/main" id="{43B37D61-5C9A-BC46-942D-F1EC1A69E985}"/>
              </a:ext>
            </a:extLst>
          </p:cNvPr>
          <p:cNvPicPr>
            <a:picLocks noGrp="1" noChangeAspect="1"/>
          </p:cNvPicPr>
          <p:nvPr>
            <p:ph idx="1"/>
          </p:nvPr>
        </p:nvPicPr>
        <p:blipFill>
          <a:blip r:embed="rId2"/>
          <a:stretch>
            <a:fillRect/>
          </a:stretch>
        </p:blipFill>
        <p:spPr>
          <a:xfrm>
            <a:off x="586174" y="2587854"/>
            <a:ext cx="7409133" cy="3834718"/>
          </a:xfrm>
        </p:spPr>
      </p:pic>
    </p:spTree>
    <p:extLst>
      <p:ext uri="{BB962C8B-B14F-4D97-AF65-F5344CB8AC3E}">
        <p14:creationId xmlns:p14="http://schemas.microsoft.com/office/powerpoint/2010/main" val="16127249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7F41DBD-A850-454B-8AF4-D363A5A45EB2}"/>
              </a:ext>
            </a:extLst>
          </p:cNvPr>
          <p:cNvSpPr txBox="1">
            <a:spLocks/>
          </p:cNvSpPr>
          <p:nvPr/>
        </p:nvSpPr>
        <p:spPr>
          <a:xfrm>
            <a:off x="586174" y="512104"/>
            <a:ext cx="7886700" cy="593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H" sz="2800" b="1" dirty="0">
                <a:solidFill>
                  <a:schemeClr val="tx2">
                    <a:lumMod val="60000"/>
                    <a:lumOff val="40000"/>
                  </a:schemeClr>
                </a:solidFill>
                <a:latin typeface="Bodoni MT" panose="020F0502020204030204" pitchFamily="34" charset="0"/>
              </a:rPr>
              <a:t>LE PORTEFEUILLE DE PROJETS</a:t>
            </a:r>
          </a:p>
        </p:txBody>
      </p:sp>
      <p:sp>
        <p:nvSpPr>
          <p:cNvPr id="4" name="TextBox 3">
            <a:extLst>
              <a:ext uri="{FF2B5EF4-FFF2-40B4-BE49-F238E27FC236}">
                <a16:creationId xmlns:a16="http://schemas.microsoft.com/office/drawing/2014/main" id="{5023DD9E-815F-DD4D-9D44-A97F0AC4F7C7}"/>
              </a:ext>
            </a:extLst>
          </p:cNvPr>
          <p:cNvSpPr txBox="1"/>
          <p:nvPr/>
        </p:nvSpPr>
        <p:spPr>
          <a:xfrm>
            <a:off x="500741" y="1297450"/>
            <a:ext cx="7728619"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Modifier les informations sur un projet</a:t>
            </a:r>
          </a:p>
        </p:txBody>
      </p:sp>
      <p:pic>
        <p:nvPicPr>
          <p:cNvPr id="9" name="Picture 8" descr="Graphical user interface, text, application, email, website&#10;&#10;Description automatically generated">
            <a:extLst>
              <a:ext uri="{FF2B5EF4-FFF2-40B4-BE49-F238E27FC236}">
                <a16:creationId xmlns:a16="http://schemas.microsoft.com/office/drawing/2014/main" id="{ECF6AEC2-F5EC-9247-A104-63A6F21115BE}"/>
              </a:ext>
            </a:extLst>
          </p:cNvPr>
          <p:cNvPicPr>
            <a:picLocks noChangeAspect="1"/>
          </p:cNvPicPr>
          <p:nvPr/>
        </p:nvPicPr>
        <p:blipFill rotWithShape="1">
          <a:blip r:embed="rId2"/>
          <a:srcRect b="56479"/>
          <a:stretch/>
        </p:blipFill>
        <p:spPr>
          <a:xfrm>
            <a:off x="500741" y="1828009"/>
            <a:ext cx="8142518" cy="1459477"/>
          </a:xfrm>
          <a:prstGeom prst="rect">
            <a:avLst/>
          </a:prstGeom>
        </p:spPr>
      </p:pic>
      <p:cxnSp>
        <p:nvCxnSpPr>
          <p:cNvPr id="11" name="Straight Arrow Connector 10">
            <a:extLst>
              <a:ext uri="{FF2B5EF4-FFF2-40B4-BE49-F238E27FC236}">
                <a16:creationId xmlns:a16="http://schemas.microsoft.com/office/drawing/2014/main" id="{F7E7C2CF-86F9-3B4D-B7EA-CE3644E36B63}"/>
              </a:ext>
            </a:extLst>
          </p:cNvPr>
          <p:cNvCxnSpPr>
            <a:cxnSpLocks/>
          </p:cNvCxnSpPr>
          <p:nvPr/>
        </p:nvCxnSpPr>
        <p:spPr>
          <a:xfrm flipV="1">
            <a:off x="6721929" y="3129105"/>
            <a:ext cx="1540329" cy="1323152"/>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393722FE-4643-154B-B9AE-D83597557893}"/>
              </a:ext>
            </a:extLst>
          </p:cNvPr>
          <p:cNvPicPr>
            <a:picLocks noChangeAspect="1"/>
          </p:cNvPicPr>
          <p:nvPr/>
        </p:nvPicPr>
        <p:blipFill>
          <a:blip r:embed="rId3"/>
          <a:stretch>
            <a:fillRect/>
          </a:stretch>
        </p:blipFill>
        <p:spPr>
          <a:xfrm>
            <a:off x="1447800" y="3695954"/>
            <a:ext cx="5274129" cy="3024135"/>
          </a:xfrm>
          <a:prstGeom prst="rect">
            <a:avLst/>
          </a:prstGeom>
        </p:spPr>
      </p:pic>
    </p:spTree>
    <p:extLst>
      <p:ext uri="{BB962C8B-B14F-4D97-AF65-F5344CB8AC3E}">
        <p14:creationId xmlns:p14="http://schemas.microsoft.com/office/powerpoint/2010/main" val="1774721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7F41DBD-A850-454B-8AF4-D363A5A45EB2}"/>
              </a:ext>
            </a:extLst>
          </p:cNvPr>
          <p:cNvSpPr txBox="1">
            <a:spLocks/>
          </p:cNvSpPr>
          <p:nvPr/>
        </p:nvSpPr>
        <p:spPr>
          <a:xfrm>
            <a:off x="586174" y="512104"/>
            <a:ext cx="7886700" cy="593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H" sz="2800" b="1" dirty="0">
                <a:solidFill>
                  <a:schemeClr val="tx2">
                    <a:lumMod val="60000"/>
                    <a:lumOff val="40000"/>
                  </a:schemeClr>
                </a:solidFill>
                <a:latin typeface="Bodoni MT" panose="020F0502020204030204" pitchFamily="34" charset="0"/>
              </a:rPr>
              <a:t>LE PORTEFEUILLE DE PROJETS</a:t>
            </a:r>
          </a:p>
        </p:txBody>
      </p:sp>
      <p:sp>
        <p:nvSpPr>
          <p:cNvPr id="4" name="TextBox 3">
            <a:extLst>
              <a:ext uri="{FF2B5EF4-FFF2-40B4-BE49-F238E27FC236}">
                <a16:creationId xmlns:a16="http://schemas.microsoft.com/office/drawing/2014/main" id="{5023DD9E-815F-DD4D-9D44-A97F0AC4F7C7}"/>
              </a:ext>
            </a:extLst>
          </p:cNvPr>
          <p:cNvSpPr txBox="1"/>
          <p:nvPr/>
        </p:nvSpPr>
        <p:spPr>
          <a:xfrm>
            <a:off x="500741" y="1297450"/>
            <a:ext cx="7728619"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Définir les indicateurs pour un projet</a:t>
            </a:r>
          </a:p>
        </p:txBody>
      </p:sp>
      <p:pic>
        <p:nvPicPr>
          <p:cNvPr id="9" name="Picture 8" descr="Graphical user interface, text, application, email, website&#10;&#10;Description automatically generated">
            <a:extLst>
              <a:ext uri="{FF2B5EF4-FFF2-40B4-BE49-F238E27FC236}">
                <a16:creationId xmlns:a16="http://schemas.microsoft.com/office/drawing/2014/main" id="{ECF6AEC2-F5EC-9247-A104-63A6F21115BE}"/>
              </a:ext>
            </a:extLst>
          </p:cNvPr>
          <p:cNvPicPr>
            <a:picLocks noChangeAspect="1"/>
          </p:cNvPicPr>
          <p:nvPr/>
        </p:nvPicPr>
        <p:blipFill rotWithShape="1">
          <a:blip r:embed="rId2"/>
          <a:srcRect b="56479"/>
          <a:stretch/>
        </p:blipFill>
        <p:spPr>
          <a:xfrm>
            <a:off x="500741" y="1828009"/>
            <a:ext cx="8142518" cy="1459477"/>
          </a:xfrm>
          <a:prstGeom prst="rect">
            <a:avLst/>
          </a:prstGeom>
        </p:spPr>
      </p:pic>
      <p:cxnSp>
        <p:nvCxnSpPr>
          <p:cNvPr id="10" name="Straight Arrow Connector 9">
            <a:extLst>
              <a:ext uri="{FF2B5EF4-FFF2-40B4-BE49-F238E27FC236}">
                <a16:creationId xmlns:a16="http://schemas.microsoft.com/office/drawing/2014/main" id="{0ED534AC-7AE1-B14F-9691-35FD6CA95A2B}"/>
              </a:ext>
            </a:extLst>
          </p:cNvPr>
          <p:cNvCxnSpPr>
            <a:cxnSpLocks/>
          </p:cNvCxnSpPr>
          <p:nvPr/>
        </p:nvCxnSpPr>
        <p:spPr>
          <a:xfrm flipV="1">
            <a:off x="6923314" y="3067728"/>
            <a:ext cx="1186544" cy="502787"/>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7EA03E8A-59A4-EB41-A20D-05A46A378997}"/>
              </a:ext>
            </a:extLst>
          </p:cNvPr>
          <p:cNvPicPr>
            <a:picLocks noChangeAspect="1"/>
          </p:cNvPicPr>
          <p:nvPr/>
        </p:nvPicPr>
        <p:blipFill>
          <a:blip r:embed="rId3"/>
          <a:stretch>
            <a:fillRect/>
          </a:stretch>
        </p:blipFill>
        <p:spPr>
          <a:xfrm>
            <a:off x="586174" y="3652379"/>
            <a:ext cx="4038704" cy="2291221"/>
          </a:xfrm>
          <a:prstGeom prst="rect">
            <a:avLst/>
          </a:prstGeom>
        </p:spPr>
      </p:pic>
      <p:pic>
        <p:nvPicPr>
          <p:cNvPr id="15" name="Picture 14">
            <a:extLst>
              <a:ext uri="{FF2B5EF4-FFF2-40B4-BE49-F238E27FC236}">
                <a16:creationId xmlns:a16="http://schemas.microsoft.com/office/drawing/2014/main" id="{DB91008F-E407-6447-9B46-771784A28810}"/>
              </a:ext>
            </a:extLst>
          </p:cNvPr>
          <p:cNvPicPr>
            <a:picLocks noChangeAspect="1"/>
          </p:cNvPicPr>
          <p:nvPr/>
        </p:nvPicPr>
        <p:blipFill>
          <a:blip r:embed="rId4"/>
          <a:stretch>
            <a:fillRect/>
          </a:stretch>
        </p:blipFill>
        <p:spPr>
          <a:xfrm>
            <a:off x="3860466" y="5170714"/>
            <a:ext cx="5082148" cy="1371442"/>
          </a:xfrm>
          <a:prstGeom prst="rect">
            <a:avLst/>
          </a:prstGeom>
        </p:spPr>
      </p:pic>
    </p:spTree>
    <p:extLst>
      <p:ext uri="{BB962C8B-B14F-4D97-AF65-F5344CB8AC3E}">
        <p14:creationId xmlns:p14="http://schemas.microsoft.com/office/powerpoint/2010/main" val="22930953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7F41DBD-A850-454B-8AF4-D363A5A45EB2}"/>
              </a:ext>
            </a:extLst>
          </p:cNvPr>
          <p:cNvSpPr txBox="1">
            <a:spLocks/>
          </p:cNvSpPr>
          <p:nvPr/>
        </p:nvSpPr>
        <p:spPr>
          <a:xfrm>
            <a:off x="342660" y="205895"/>
            <a:ext cx="7886700" cy="593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H" sz="2800" b="1" dirty="0">
                <a:solidFill>
                  <a:schemeClr val="tx2">
                    <a:lumMod val="60000"/>
                    <a:lumOff val="40000"/>
                  </a:schemeClr>
                </a:solidFill>
                <a:latin typeface="Bodoni MT" panose="020F0502020204030204" pitchFamily="34" charset="0"/>
              </a:rPr>
              <a:t>LA GESTION D’UN PROJET</a:t>
            </a:r>
          </a:p>
        </p:txBody>
      </p:sp>
      <p:sp>
        <p:nvSpPr>
          <p:cNvPr id="4" name="TextBox 3">
            <a:extLst>
              <a:ext uri="{FF2B5EF4-FFF2-40B4-BE49-F238E27FC236}">
                <a16:creationId xmlns:a16="http://schemas.microsoft.com/office/drawing/2014/main" id="{5023DD9E-815F-DD4D-9D44-A97F0AC4F7C7}"/>
              </a:ext>
            </a:extLst>
          </p:cNvPr>
          <p:cNvSpPr txBox="1"/>
          <p:nvPr/>
        </p:nvSpPr>
        <p:spPr>
          <a:xfrm>
            <a:off x="342660" y="1093385"/>
            <a:ext cx="3106474"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Cadre général du projet</a:t>
            </a:r>
          </a:p>
        </p:txBody>
      </p:sp>
      <p:pic>
        <p:nvPicPr>
          <p:cNvPr id="3" name="Picture 2">
            <a:extLst>
              <a:ext uri="{FF2B5EF4-FFF2-40B4-BE49-F238E27FC236}">
                <a16:creationId xmlns:a16="http://schemas.microsoft.com/office/drawing/2014/main" id="{3B9F2FAA-B8FE-3247-9082-9E5854456C8F}"/>
              </a:ext>
            </a:extLst>
          </p:cNvPr>
          <p:cNvPicPr>
            <a:picLocks noChangeAspect="1"/>
          </p:cNvPicPr>
          <p:nvPr/>
        </p:nvPicPr>
        <p:blipFill>
          <a:blip r:embed="rId2"/>
          <a:stretch>
            <a:fillRect/>
          </a:stretch>
        </p:blipFill>
        <p:spPr>
          <a:xfrm>
            <a:off x="3993526" y="686554"/>
            <a:ext cx="2022480" cy="648088"/>
          </a:xfrm>
          <a:prstGeom prst="rect">
            <a:avLst/>
          </a:prstGeom>
        </p:spPr>
      </p:pic>
      <p:pic>
        <p:nvPicPr>
          <p:cNvPr id="7" name="Picture 6">
            <a:extLst>
              <a:ext uri="{FF2B5EF4-FFF2-40B4-BE49-F238E27FC236}">
                <a16:creationId xmlns:a16="http://schemas.microsoft.com/office/drawing/2014/main" id="{BAA82CE6-8EBE-E345-881A-F1EC87DBFF48}"/>
              </a:ext>
            </a:extLst>
          </p:cNvPr>
          <p:cNvPicPr>
            <a:picLocks noChangeAspect="1"/>
          </p:cNvPicPr>
          <p:nvPr/>
        </p:nvPicPr>
        <p:blipFill>
          <a:blip r:embed="rId3"/>
          <a:stretch>
            <a:fillRect/>
          </a:stretch>
        </p:blipFill>
        <p:spPr>
          <a:xfrm>
            <a:off x="4683510" y="1467734"/>
            <a:ext cx="4205074" cy="2370263"/>
          </a:xfrm>
          <a:prstGeom prst="rect">
            <a:avLst/>
          </a:prstGeom>
        </p:spPr>
      </p:pic>
      <p:cxnSp>
        <p:nvCxnSpPr>
          <p:cNvPr id="12" name="Straight Arrow Connector 11">
            <a:extLst>
              <a:ext uri="{FF2B5EF4-FFF2-40B4-BE49-F238E27FC236}">
                <a16:creationId xmlns:a16="http://schemas.microsoft.com/office/drawing/2014/main" id="{74CB190F-8792-3848-A693-008BF88531AA}"/>
              </a:ext>
            </a:extLst>
          </p:cNvPr>
          <p:cNvCxnSpPr>
            <a:cxnSpLocks/>
          </p:cNvCxnSpPr>
          <p:nvPr/>
        </p:nvCxnSpPr>
        <p:spPr>
          <a:xfrm>
            <a:off x="6246815" y="1262662"/>
            <a:ext cx="318391" cy="162788"/>
          </a:xfrm>
          <a:prstGeom prst="straightConnector1">
            <a:avLst/>
          </a:prstGeom>
          <a:ln w="101600">
            <a:solidFill>
              <a:schemeClr val="accent2">
                <a:lumMod val="60000"/>
                <a:lumOff val="40000"/>
              </a:schemeClr>
            </a:solidFill>
            <a:miter lim="800000"/>
            <a:tailEnd type="stealth" w="lg" len="med"/>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F100F849-1E32-5041-8E89-7C456D4C9CF1}"/>
              </a:ext>
            </a:extLst>
          </p:cNvPr>
          <p:cNvPicPr>
            <a:picLocks noChangeAspect="1"/>
          </p:cNvPicPr>
          <p:nvPr/>
        </p:nvPicPr>
        <p:blipFill>
          <a:blip r:embed="rId4"/>
          <a:stretch>
            <a:fillRect/>
          </a:stretch>
        </p:blipFill>
        <p:spPr>
          <a:xfrm>
            <a:off x="342660" y="2086977"/>
            <a:ext cx="4205074" cy="2308729"/>
          </a:xfrm>
          <a:prstGeom prst="rect">
            <a:avLst/>
          </a:prstGeom>
        </p:spPr>
      </p:pic>
      <p:cxnSp>
        <p:nvCxnSpPr>
          <p:cNvPr id="16" name="Straight Arrow Connector 15">
            <a:extLst>
              <a:ext uri="{FF2B5EF4-FFF2-40B4-BE49-F238E27FC236}">
                <a16:creationId xmlns:a16="http://schemas.microsoft.com/office/drawing/2014/main" id="{D37A215B-3F5F-764F-B504-7A2B5CF5D5A1}"/>
              </a:ext>
            </a:extLst>
          </p:cNvPr>
          <p:cNvCxnSpPr>
            <a:cxnSpLocks/>
          </p:cNvCxnSpPr>
          <p:nvPr/>
        </p:nvCxnSpPr>
        <p:spPr>
          <a:xfrm flipH="1">
            <a:off x="3367668" y="1616733"/>
            <a:ext cx="1204332" cy="376840"/>
          </a:xfrm>
          <a:prstGeom prst="straightConnector1">
            <a:avLst/>
          </a:prstGeom>
          <a:ln w="101600">
            <a:solidFill>
              <a:schemeClr val="accent2">
                <a:lumMod val="60000"/>
                <a:lumOff val="40000"/>
              </a:schemeClr>
            </a:solidFill>
            <a:miter lim="800000"/>
            <a:tailEnd type="stealth" w="lg" len="med"/>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15545646-8027-BF42-87CF-4BA31F865F62}"/>
              </a:ext>
            </a:extLst>
          </p:cNvPr>
          <p:cNvPicPr>
            <a:picLocks noChangeAspect="1"/>
          </p:cNvPicPr>
          <p:nvPr/>
        </p:nvPicPr>
        <p:blipFill>
          <a:blip r:embed="rId5"/>
          <a:stretch>
            <a:fillRect/>
          </a:stretch>
        </p:blipFill>
        <p:spPr>
          <a:xfrm>
            <a:off x="4995746" y="3971089"/>
            <a:ext cx="3892838" cy="2605014"/>
          </a:xfrm>
          <a:prstGeom prst="rect">
            <a:avLst/>
          </a:prstGeom>
        </p:spPr>
      </p:pic>
      <p:pic>
        <p:nvPicPr>
          <p:cNvPr id="25" name="Picture 24">
            <a:extLst>
              <a:ext uri="{FF2B5EF4-FFF2-40B4-BE49-F238E27FC236}">
                <a16:creationId xmlns:a16="http://schemas.microsoft.com/office/drawing/2014/main" id="{B8BCEE81-7E4B-5E4A-BF52-D33951685B7F}"/>
              </a:ext>
            </a:extLst>
          </p:cNvPr>
          <p:cNvPicPr>
            <a:picLocks noChangeAspect="1"/>
          </p:cNvPicPr>
          <p:nvPr/>
        </p:nvPicPr>
        <p:blipFill>
          <a:blip r:embed="rId6"/>
          <a:stretch>
            <a:fillRect/>
          </a:stretch>
        </p:blipFill>
        <p:spPr>
          <a:xfrm>
            <a:off x="3449134" y="4586131"/>
            <a:ext cx="1041400" cy="469900"/>
          </a:xfrm>
          <a:prstGeom prst="rect">
            <a:avLst/>
          </a:prstGeom>
        </p:spPr>
      </p:pic>
      <p:pic>
        <p:nvPicPr>
          <p:cNvPr id="27" name="Picture 26">
            <a:extLst>
              <a:ext uri="{FF2B5EF4-FFF2-40B4-BE49-F238E27FC236}">
                <a16:creationId xmlns:a16="http://schemas.microsoft.com/office/drawing/2014/main" id="{ABF57031-ACD5-ED49-99BE-C0EC04D7AC48}"/>
              </a:ext>
            </a:extLst>
          </p:cNvPr>
          <p:cNvPicPr>
            <a:picLocks noChangeAspect="1"/>
          </p:cNvPicPr>
          <p:nvPr/>
        </p:nvPicPr>
        <p:blipFill>
          <a:blip r:embed="rId7"/>
          <a:stretch>
            <a:fillRect/>
          </a:stretch>
        </p:blipFill>
        <p:spPr>
          <a:xfrm>
            <a:off x="342660" y="4586131"/>
            <a:ext cx="2601262" cy="2214348"/>
          </a:xfrm>
          <a:prstGeom prst="rect">
            <a:avLst/>
          </a:prstGeom>
        </p:spPr>
      </p:pic>
      <p:pic>
        <p:nvPicPr>
          <p:cNvPr id="31" name="Picture 30">
            <a:extLst>
              <a:ext uri="{FF2B5EF4-FFF2-40B4-BE49-F238E27FC236}">
                <a16:creationId xmlns:a16="http://schemas.microsoft.com/office/drawing/2014/main" id="{B61DE3DF-D74D-E54B-B059-3264F5915481}"/>
              </a:ext>
            </a:extLst>
          </p:cNvPr>
          <p:cNvPicPr>
            <a:picLocks noChangeAspect="1"/>
          </p:cNvPicPr>
          <p:nvPr/>
        </p:nvPicPr>
        <p:blipFill>
          <a:blip r:embed="rId8"/>
          <a:stretch>
            <a:fillRect/>
          </a:stretch>
        </p:blipFill>
        <p:spPr>
          <a:xfrm>
            <a:off x="3074996" y="5272169"/>
            <a:ext cx="1837060" cy="236193"/>
          </a:xfrm>
          <a:prstGeom prst="rect">
            <a:avLst/>
          </a:prstGeom>
        </p:spPr>
      </p:pic>
      <p:pic>
        <p:nvPicPr>
          <p:cNvPr id="33" name="Picture 32">
            <a:extLst>
              <a:ext uri="{FF2B5EF4-FFF2-40B4-BE49-F238E27FC236}">
                <a16:creationId xmlns:a16="http://schemas.microsoft.com/office/drawing/2014/main" id="{6E980C10-0F6E-F44B-B909-58F0E09DF4CF}"/>
              </a:ext>
            </a:extLst>
          </p:cNvPr>
          <p:cNvPicPr>
            <a:picLocks noChangeAspect="1"/>
          </p:cNvPicPr>
          <p:nvPr/>
        </p:nvPicPr>
        <p:blipFill>
          <a:blip r:embed="rId9"/>
          <a:stretch>
            <a:fillRect/>
          </a:stretch>
        </p:blipFill>
        <p:spPr>
          <a:xfrm>
            <a:off x="3367668" y="5787232"/>
            <a:ext cx="1273980" cy="342008"/>
          </a:xfrm>
          <a:prstGeom prst="rect">
            <a:avLst/>
          </a:prstGeom>
        </p:spPr>
      </p:pic>
    </p:spTree>
    <p:extLst>
      <p:ext uri="{BB962C8B-B14F-4D97-AF65-F5344CB8AC3E}">
        <p14:creationId xmlns:p14="http://schemas.microsoft.com/office/powerpoint/2010/main" val="28286425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7F41DBD-A850-454B-8AF4-D363A5A45EB2}"/>
              </a:ext>
            </a:extLst>
          </p:cNvPr>
          <p:cNvSpPr txBox="1">
            <a:spLocks/>
          </p:cNvSpPr>
          <p:nvPr/>
        </p:nvSpPr>
        <p:spPr>
          <a:xfrm>
            <a:off x="342660" y="205895"/>
            <a:ext cx="7886700" cy="593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H" sz="2800" b="1" dirty="0">
                <a:solidFill>
                  <a:schemeClr val="tx2">
                    <a:lumMod val="60000"/>
                    <a:lumOff val="40000"/>
                  </a:schemeClr>
                </a:solidFill>
                <a:latin typeface="Bodoni MT" panose="020F0502020204030204" pitchFamily="34" charset="0"/>
              </a:rPr>
              <a:t>LA GESTION D’UN PROJET</a:t>
            </a:r>
          </a:p>
        </p:txBody>
      </p:sp>
      <p:sp>
        <p:nvSpPr>
          <p:cNvPr id="4" name="TextBox 3">
            <a:extLst>
              <a:ext uri="{FF2B5EF4-FFF2-40B4-BE49-F238E27FC236}">
                <a16:creationId xmlns:a16="http://schemas.microsoft.com/office/drawing/2014/main" id="{5023DD9E-815F-DD4D-9D44-A97F0AC4F7C7}"/>
              </a:ext>
            </a:extLst>
          </p:cNvPr>
          <p:cNvSpPr txBox="1"/>
          <p:nvPr/>
        </p:nvSpPr>
        <p:spPr>
          <a:xfrm>
            <a:off x="342660" y="1093385"/>
            <a:ext cx="4407760"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Définir les activtités du projet</a:t>
            </a:r>
          </a:p>
        </p:txBody>
      </p:sp>
      <p:sp>
        <p:nvSpPr>
          <p:cNvPr id="2" name="TextBox 1">
            <a:extLst>
              <a:ext uri="{FF2B5EF4-FFF2-40B4-BE49-F238E27FC236}">
                <a16:creationId xmlns:a16="http://schemas.microsoft.com/office/drawing/2014/main" id="{18A3C1D4-604F-8042-AEFF-9B8EA591C094}"/>
              </a:ext>
            </a:extLst>
          </p:cNvPr>
          <p:cNvSpPr txBox="1"/>
          <p:nvPr/>
        </p:nvSpPr>
        <p:spPr>
          <a:xfrm>
            <a:off x="4942114" y="130440"/>
            <a:ext cx="4876800" cy="1200329"/>
          </a:xfrm>
          <a:prstGeom prst="rect">
            <a:avLst/>
          </a:prstGeom>
          <a:noFill/>
        </p:spPr>
        <p:txBody>
          <a:bodyPr wrap="square" rtlCol="0">
            <a:spAutoFit/>
          </a:bodyPr>
          <a:lstStyle/>
          <a:p>
            <a:r>
              <a:rPr lang="en-GH" sz="1200" dirty="0"/>
              <a:t>Prendre en compte la Structuration </a:t>
            </a:r>
          </a:p>
          <a:p>
            <a:pPr marL="285750" indent="-285750">
              <a:buFont typeface="Arial" panose="020B0604020202020204" pitchFamily="34" charset="0"/>
              <a:buChar char="•"/>
            </a:pPr>
            <a:r>
              <a:rPr lang="en-GH" sz="1200" b="1" dirty="0">
                <a:solidFill>
                  <a:schemeClr val="accent5">
                    <a:lumMod val="75000"/>
                  </a:schemeClr>
                </a:solidFill>
              </a:rPr>
              <a:t>Composante</a:t>
            </a:r>
          </a:p>
          <a:p>
            <a:pPr marL="742950" lvl="1" indent="-285750">
              <a:buFont typeface="Arial" panose="020B0604020202020204" pitchFamily="34" charset="0"/>
              <a:buChar char="•"/>
            </a:pPr>
            <a:r>
              <a:rPr lang="en-GH" sz="1200" i="1" dirty="0">
                <a:solidFill>
                  <a:schemeClr val="accent4">
                    <a:lumMod val="60000"/>
                    <a:lumOff val="40000"/>
                  </a:schemeClr>
                </a:solidFill>
              </a:rPr>
              <a:t>Sous-composante</a:t>
            </a:r>
          </a:p>
          <a:p>
            <a:pPr marL="1200150" lvl="2" indent="-285750">
              <a:buFont typeface="Arial" panose="020B0604020202020204" pitchFamily="34" charset="0"/>
              <a:buChar char="•"/>
            </a:pPr>
            <a:r>
              <a:rPr lang="en-GH" sz="1200" dirty="0">
                <a:solidFill>
                  <a:schemeClr val="accent4">
                    <a:lumMod val="40000"/>
                    <a:lumOff val="60000"/>
                  </a:schemeClr>
                </a:solidFill>
              </a:rPr>
              <a:t>Activité </a:t>
            </a:r>
          </a:p>
          <a:p>
            <a:endParaRPr lang="en-GH" sz="1200" dirty="0">
              <a:solidFill>
                <a:schemeClr val="accent4">
                  <a:lumMod val="40000"/>
                  <a:lumOff val="60000"/>
                </a:schemeClr>
              </a:solidFill>
            </a:endParaRPr>
          </a:p>
          <a:p>
            <a:r>
              <a:rPr lang="en-GH" sz="1200" dirty="0"/>
              <a:t>L’Activité est l’element qui va être suivi </a:t>
            </a:r>
          </a:p>
        </p:txBody>
      </p:sp>
      <p:pic>
        <p:nvPicPr>
          <p:cNvPr id="7" name="Picture 6" descr="Graphical user interface, text, application, email&#10;&#10;Description automatically generated">
            <a:extLst>
              <a:ext uri="{FF2B5EF4-FFF2-40B4-BE49-F238E27FC236}">
                <a16:creationId xmlns:a16="http://schemas.microsoft.com/office/drawing/2014/main" id="{0CDA75DB-E163-8E4B-A1FF-34097E480761}"/>
              </a:ext>
            </a:extLst>
          </p:cNvPr>
          <p:cNvPicPr>
            <a:picLocks noChangeAspect="1"/>
          </p:cNvPicPr>
          <p:nvPr/>
        </p:nvPicPr>
        <p:blipFill rotWithShape="1">
          <a:blip r:embed="rId2"/>
          <a:srcRect b="26344"/>
          <a:stretch/>
        </p:blipFill>
        <p:spPr>
          <a:xfrm>
            <a:off x="419100" y="2078866"/>
            <a:ext cx="8305800" cy="3294177"/>
          </a:xfrm>
          <a:prstGeom prst="rect">
            <a:avLst/>
          </a:prstGeom>
        </p:spPr>
      </p:pic>
      <p:sp>
        <p:nvSpPr>
          <p:cNvPr id="8" name="TextBox 7">
            <a:extLst>
              <a:ext uri="{FF2B5EF4-FFF2-40B4-BE49-F238E27FC236}">
                <a16:creationId xmlns:a16="http://schemas.microsoft.com/office/drawing/2014/main" id="{870C8440-8B14-5349-AD4B-B1B52A304BD5}"/>
              </a:ext>
            </a:extLst>
          </p:cNvPr>
          <p:cNvSpPr txBox="1"/>
          <p:nvPr/>
        </p:nvSpPr>
        <p:spPr>
          <a:xfrm>
            <a:off x="435429" y="5503005"/>
            <a:ext cx="2122715" cy="523220"/>
          </a:xfrm>
          <a:prstGeom prst="rect">
            <a:avLst/>
          </a:prstGeom>
          <a:noFill/>
        </p:spPr>
        <p:txBody>
          <a:bodyPr wrap="square" rtlCol="0">
            <a:spAutoFit/>
          </a:bodyPr>
          <a:lstStyle/>
          <a:p>
            <a:r>
              <a:rPr lang="en-GH" sz="1400" dirty="0"/>
              <a:t>Ajouter une nouvelle composante</a:t>
            </a:r>
          </a:p>
        </p:txBody>
      </p:sp>
      <p:sp>
        <p:nvSpPr>
          <p:cNvPr id="9" name="Rectangle 8">
            <a:extLst>
              <a:ext uri="{FF2B5EF4-FFF2-40B4-BE49-F238E27FC236}">
                <a16:creationId xmlns:a16="http://schemas.microsoft.com/office/drawing/2014/main" id="{534918EC-5E0C-314F-A1DB-E564D9B127F6}"/>
              </a:ext>
            </a:extLst>
          </p:cNvPr>
          <p:cNvSpPr/>
          <p:nvPr/>
        </p:nvSpPr>
        <p:spPr>
          <a:xfrm>
            <a:off x="2398239" y="5650638"/>
            <a:ext cx="1743149" cy="523220"/>
          </a:xfrm>
          <a:prstGeom prst="rect">
            <a:avLst/>
          </a:prstGeom>
        </p:spPr>
        <p:txBody>
          <a:bodyPr wrap="square">
            <a:spAutoFit/>
          </a:bodyPr>
          <a:lstStyle/>
          <a:p>
            <a:r>
              <a:rPr lang="en-GH" sz="1400" dirty="0"/>
              <a:t>Ajouter une sous-composante</a:t>
            </a:r>
          </a:p>
        </p:txBody>
      </p:sp>
      <p:cxnSp>
        <p:nvCxnSpPr>
          <p:cNvPr id="10" name="Straight Arrow Connector 9">
            <a:extLst>
              <a:ext uri="{FF2B5EF4-FFF2-40B4-BE49-F238E27FC236}">
                <a16:creationId xmlns:a16="http://schemas.microsoft.com/office/drawing/2014/main" id="{58063627-4EED-6740-B6B0-B02E2A01186C}"/>
              </a:ext>
            </a:extLst>
          </p:cNvPr>
          <p:cNvCxnSpPr>
            <a:cxnSpLocks/>
          </p:cNvCxnSpPr>
          <p:nvPr/>
        </p:nvCxnSpPr>
        <p:spPr>
          <a:xfrm flipV="1">
            <a:off x="1289717" y="4390213"/>
            <a:ext cx="0" cy="1135598"/>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88E8FFF-CFDD-0E4A-938B-CE470FC9B4D0}"/>
              </a:ext>
            </a:extLst>
          </p:cNvPr>
          <p:cNvCxnSpPr>
            <a:cxnSpLocks/>
            <a:stCxn id="9" idx="0"/>
          </p:cNvCxnSpPr>
          <p:nvPr/>
        </p:nvCxnSpPr>
        <p:spPr>
          <a:xfrm flipV="1">
            <a:off x="3269814" y="4757060"/>
            <a:ext cx="4850929" cy="893578"/>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440383DD-36EC-8C44-871C-A150125732BF}"/>
              </a:ext>
            </a:extLst>
          </p:cNvPr>
          <p:cNvSpPr/>
          <p:nvPr/>
        </p:nvSpPr>
        <p:spPr>
          <a:xfrm>
            <a:off x="4142408" y="5684263"/>
            <a:ext cx="1803699" cy="307777"/>
          </a:xfrm>
          <a:prstGeom prst="rect">
            <a:avLst/>
          </a:prstGeom>
        </p:spPr>
        <p:txBody>
          <a:bodyPr wrap="none">
            <a:spAutoFit/>
          </a:bodyPr>
          <a:lstStyle/>
          <a:p>
            <a:r>
              <a:rPr lang="en-GH" sz="1400" dirty="0"/>
              <a:t>Ajouter une activité</a:t>
            </a:r>
          </a:p>
        </p:txBody>
      </p:sp>
      <p:cxnSp>
        <p:nvCxnSpPr>
          <p:cNvPr id="18" name="Straight Arrow Connector 17">
            <a:extLst>
              <a:ext uri="{FF2B5EF4-FFF2-40B4-BE49-F238E27FC236}">
                <a16:creationId xmlns:a16="http://schemas.microsoft.com/office/drawing/2014/main" id="{6D4A452D-FDDA-C543-80AD-0EA77CEBE2D2}"/>
              </a:ext>
            </a:extLst>
          </p:cNvPr>
          <p:cNvCxnSpPr>
            <a:cxnSpLocks/>
          </p:cNvCxnSpPr>
          <p:nvPr/>
        </p:nvCxnSpPr>
        <p:spPr>
          <a:xfrm flipV="1">
            <a:off x="5002614" y="4865914"/>
            <a:ext cx="3078918" cy="833440"/>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9AB72075-7249-6449-BE77-053701FE033F}"/>
              </a:ext>
            </a:extLst>
          </p:cNvPr>
          <p:cNvSpPr/>
          <p:nvPr/>
        </p:nvSpPr>
        <p:spPr>
          <a:xfrm>
            <a:off x="6170318" y="5808208"/>
            <a:ext cx="843501" cy="307777"/>
          </a:xfrm>
          <a:prstGeom prst="rect">
            <a:avLst/>
          </a:prstGeom>
        </p:spPr>
        <p:txBody>
          <a:bodyPr wrap="none">
            <a:spAutoFit/>
          </a:bodyPr>
          <a:lstStyle/>
          <a:p>
            <a:r>
              <a:rPr lang="en-GH" sz="1400" dirty="0"/>
              <a:t>Modifier</a:t>
            </a:r>
          </a:p>
        </p:txBody>
      </p:sp>
      <p:cxnSp>
        <p:nvCxnSpPr>
          <p:cNvPr id="23" name="Straight Arrow Connector 22">
            <a:extLst>
              <a:ext uri="{FF2B5EF4-FFF2-40B4-BE49-F238E27FC236}">
                <a16:creationId xmlns:a16="http://schemas.microsoft.com/office/drawing/2014/main" id="{60A2C76D-397A-1547-BE01-D62865C4B01D}"/>
              </a:ext>
            </a:extLst>
          </p:cNvPr>
          <p:cNvCxnSpPr>
            <a:cxnSpLocks/>
            <a:stCxn id="21" idx="0"/>
          </p:cNvCxnSpPr>
          <p:nvPr/>
        </p:nvCxnSpPr>
        <p:spPr>
          <a:xfrm flipV="1">
            <a:off x="6592069" y="4991875"/>
            <a:ext cx="1382968" cy="816333"/>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D73F5C6-D5C9-8046-A330-2B77C198201F}"/>
              </a:ext>
            </a:extLst>
          </p:cNvPr>
          <p:cNvCxnSpPr>
            <a:cxnSpLocks/>
          </p:cNvCxnSpPr>
          <p:nvPr/>
        </p:nvCxnSpPr>
        <p:spPr>
          <a:xfrm flipV="1">
            <a:off x="7975037" y="5145764"/>
            <a:ext cx="381360" cy="692387"/>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5E4DED67-6088-304B-97CC-3AFFC7C65E10}"/>
              </a:ext>
            </a:extLst>
          </p:cNvPr>
          <p:cNvSpPr/>
          <p:nvPr/>
        </p:nvSpPr>
        <p:spPr>
          <a:xfrm>
            <a:off x="7553286" y="5865574"/>
            <a:ext cx="1007007" cy="307777"/>
          </a:xfrm>
          <a:prstGeom prst="rect">
            <a:avLst/>
          </a:prstGeom>
        </p:spPr>
        <p:txBody>
          <a:bodyPr wrap="none">
            <a:spAutoFit/>
          </a:bodyPr>
          <a:lstStyle/>
          <a:p>
            <a:r>
              <a:rPr lang="en-GH" sz="1400" dirty="0"/>
              <a:t>Supprimer</a:t>
            </a:r>
          </a:p>
        </p:txBody>
      </p:sp>
    </p:spTree>
    <p:extLst>
      <p:ext uri="{BB962C8B-B14F-4D97-AF65-F5344CB8AC3E}">
        <p14:creationId xmlns:p14="http://schemas.microsoft.com/office/powerpoint/2010/main" val="39724380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7F41DBD-A850-454B-8AF4-D363A5A45EB2}"/>
              </a:ext>
            </a:extLst>
          </p:cNvPr>
          <p:cNvSpPr txBox="1">
            <a:spLocks/>
          </p:cNvSpPr>
          <p:nvPr/>
        </p:nvSpPr>
        <p:spPr>
          <a:xfrm>
            <a:off x="342660" y="205895"/>
            <a:ext cx="7886700" cy="593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H" sz="2800" b="1" dirty="0">
                <a:solidFill>
                  <a:schemeClr val="tx2">
                    <a:lumMod val="60000"/>
                    <a:lumOff val="40000"/>
                  </a:schemeClr>
                </a:solidFill>
                <a:latin typeface="Bodoni MT" panose="020F0502020204030204" pitchFamily="34" charset="0"/>
              </a:rPr>
              <a:t>LA GESTION D’UN PROJET</a:t>
            </a:r>
          </a:p>
        </p:txBody>
      </p:sp>
      <p:sp>
        <p:nvSpPr>
          <p:cNvPr id="4" name="TextBox 3">
            <a:extLst>
              <a:ext uri="{FF2B5EF4-FFF2-40B4-BE49-F238E27FC236}">
                <a16:creationId xmlns:a16="http://schemas.microsoft.com/office/drawing/2014/main" id="{5023DD9E-815F-DD4D-9D44-A97F0AC4F7C7}"/>
              </a:ext>
            </a:extLst>
          </p:cNvPr>
          <p:cNvSpPr txBox="1"/>
          <p:nvPr/>
        </p:nvSpPr>
        <p:spPr>
          <a:xfrm>
            <a:off x="342660" y="1093385"/>
            <a:ext cx="6314618"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Voir les Indicateurs du projet</a:t>
            </a:r>
          </a:p>
        </p:txBody>
      </p:sp>
      <p:pic>
        <p:nvPicPr>
          <p:cNvPr id="3" name="Picture 2">
            <a:extLst>
              <a:ext uri="{FF2B5EF4-FFF2-40B4-BE49-F238E27FC236}">
                <a16:creationId xmlns:a16="http://schemas.microsoft.com/office/drawing/2014/main" id="{8E041F8C-DF44-994E-9E25-DE4D4A6E746C}"/>
              </a:ext>
            </a:extLst>
          </p:cNvPr>
          <p:cNvPicPr>
            <a:picLocks noChangeAspect="1"/>
          </p:cNvPicPr>
          <p:nvPr/>
        </p:nvPicPr>
        <p:blipFill>
          <a:blip r:embed="rId2"/>
          <a:stretch>
            <a:fillRect/>
          </a:stretch>
        </p:blipFill>
        <p:spPr>
          <a:xfrm>
            <a:off x="691375" y="2441793"/>
            <a:ext cx="7761249" cy="2571603"/>
          </a:xfrm>
          <a:prstGeom prst="rect">
            <a:avLst/>
          </a:prstGeom>
        </p:spPr>
      </p:pic>
      <p:cxnSp>
        <p:nvCxnSpPr>
          <p:cNvPr id="5" name="Straight Arrow Connector 4">
            <a:extLst>
              <a:ext uri="{FF2B5EF4-FFF2-40B4-BE49-F238E27FC236}">
                <a16:creationId xmlns:a16="http://schemas.microsoft.com/office/drawing/2014/main" id="{74366A7A-DEEF-EC49-9B85-D30B9C9EA36E}"/>
              </a:ext>
            </a:extLst>
          </p:cNvPr>
          <p:cNvCxnSpPr>
            <a:cxnSpLocks/>
          </p:cNvCxnSpPr>
          <p:nvPr/>
        </p:nvCxnSpPr>
        <p:spPr>
          <a:xfrm flipV="1">
            <a:off x="6281057" y="4597221"/>
            <a:ext cx="1948303" cy="1426029"/>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6929DB65-B91E-AE4D-B702-4897238F0182}"/>
              </a:ext>
            </a:extLst>
          </p:cNvPr>
          <p:cNvSpPr/>
          <p:nvPr/>
        </p:nvSpPr>
        <p:spPr>
          <a:xfrm>
            <a:off x="2926807" y="6023250"/>
            <a:ext cx="3993401" cy="307777"/>
          </a:xfrm>
          <a:prstGeom prst="rect">
            <a:avLst/>
          </a:prstGeom>
        </p:spPr>
        <p:txBody>
          <a:bodyPr wrap="none">
            <a:spAutoFit/>
          </a:bodyPr>
          <a:lstStyle/>
          <a:p>
            <a:r>
              <a:rPr lang="en-GH" sz="1400" dirty="0"/>
              <a:t>Indicateur visible au niveau du Tableau de Bord</a:t>
            </a:r>
          </a:p>
        </p:txBody>
      </p:sp>
      <p:sp>
        <p:nvSpPr>
          <p:cNvPr id="9" name="Rectangle 8">
            <a:extLst>
              <a:ext uri="{FF2B5EF4-FFF2-40B4-BE49-F238E27FC236}">
                <a16:creationId xmlns:a16="http://schemas.microsoft.com/office/drawing/2014/main" id="{3D5961BF-C8D3-5F44-88AE-1CA2B456839D}"/>
              </a:ext>
            </a:extLst>
          </p:cNvPr>
          <p:cNvSpPr/>
          <p:nvPr/>
        </p:nvSpPr>
        <p:spPr>
          <a:xfrm>
            <a:off x="1934654" y="1675256"/>
            <a:ext cx="5629364" cy="523220"/>
          </a:xfrm>
          <a:prstGeom prst="rect">
            <a:avLst/>
          </a:prstGeom>
        </p:spPr>
        <p:txBody>
          <a:bodyPr wrap="square">
            <a:spAutoFit/>
          </a:bodyPr>
          <a:lstStyle/>
          <a:p>
            <a:r>
              <a:rPr lang="en-GH" sz="1400" dirty="0">
                <a:solidFill>
                  <a:schemeClr val="accent5"/>
                </a:solidFill>
              </a:rPr>
              <a:t>Rappel: les Indicateurs sont definis au niveau du Cadre Strategique/ Portfeuille de Projet</a:t>
            </a:r>
          </a:p>
        </p:txBody>
      </p:sp>
    </p:spTree>
    <p:extLst>
      <p:ext uri="{BB962C8B-B14F-4D97-AF65-F5344CB8AC3E}">
        <p14:creationId xmlns:p14="http://schemas.microsoft.com/office/powerpoint/2010/main" val="32486834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7F41DBD-A850-454B-8AF4-D363A5A45EB2}"/>
              </a:ext>
            </a:extLst>
          </p:cNvPr>
          <p:cNvSpPr txBox="1">
            <a:spLocks/>
          </p:cNvSpPr>
          <p:nvPr/>
        </p:nvSpPr>
        <p:spPr>
          <a:xfrm>
            <a:off x="342660" y="205895"/>
            <a:ext cx="7886700" cy="593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H" sz="2800" b="1" dirty="0">
                <a:solidFill>
                  <a:schemeClr val="tx2">
                    <a:lumMod val="60000"/>
                    <a:lumOff val="40000"/>
                  </a:schemeClr>
                </a:solidFill>
                <a:latin typeface="Bodoni MT" panose="020F0502020204030204" pitchFamily="34" charset="0"/>
              </a:rPr>
              <a:t>LA GESTION D’UN PROJET</a:t>
            </a:r>
          </a:p>
        </p:txBody>
      </p:sp>
      <p:sp>
        <p:nvSpPr>
          <p:cNvPr id="4" name="TextBox 3">
            <a:extLst>
              <a:ext uri="{FF2B5EF4-FFF2-40B4-BE49-F238E27FC236}">
                <a16:creationId xmlns:a16="http://schemas.microsoft.com/office/drawing/2014/main" id="{5023DD9E-815F-DD4D-9D44-A97F0AC4F7C7}"/>
              </a:ext>
            </a:extLst>
          </p:cNvPr>
          <p:cNvSpPr txBox="1"/>
          <p:nvPr/>
        </p:nvSpPr>
        <p:spPr>
          <a:xfrm>
            <a:off x="342660" y="1093385"/>
            <a:ext cx="6314618"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Définir les Parties Prenantes du projet</a:t>
            </a:r>
          </a:p>
        </p:txBody>
      </p:sp>
      <p:pic>
        <p:nvPicPr>
          <p:cNvPr id="5" name="Picture 4">
            <a:extLst>
              <a:ext uri="{FF2B5EF4-FFF2-40B4-BE49-F238E27FC236}">
                <a16:creationId xmlns:a16="http://schemas.microsoft.com/office/drawing/2014/main" id="{D159E4FE-C5EC-3949-ACC3-83FCDE148904}"/>
              </a:ext>
            </a:extLst>
          </p:cNvPr>
          <p:cNvPicPr>
            <a:picLocks noChangeAspect="1"/>
          </p:cNvPicPr>
          <p:nvPr/>
        </p:nvPicPr>
        <p:blipFill>
          <a:blip r:embed="rId2"/>
          <a:stretch>
            <a:fillRect/>
          </a:stretch>
        </p:blipFill>
        <p:spPr>
          <a:xfrm>
            <a:off x="342660" y="1746762"/>
            <a:ext cx="8419293" cy="2147329"/>
          </a:xfrm>
          <a:prstGeom prst="rect">
            <a:avLst/>
          </a:prstGeom>
        </p:spPr>
      </p:pic>
    </p:spTree>
    <p:extLst>
      <p:ext uri="{BB962C8B-B14F-4D97-AF65-F5344CB8AC3E}">
        <p14:creationId xmlns:p14="http://schemas.microsoft.com/office/powerpoint/2010/main" val="12665243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7F41DBD-A850-454B-8AF4-D363A5A45EB2}"/>
              </a:ext>
            </a:extLst>
          </p:cNvPr>
          <p:cNvSpPr txBox="1">
            <a:spLocks/>
          </p:cNvSpPr>
          <p:nvPr/>
        </p:nvSpPr>
        <p:spPr>
          <a:xfrm>
            <a:off x="342660" y="205895"/>
            <a:ext cx="7886700" cy="593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H" sz="2800" b="1" dirty="0">
                <a:solidFill>
                  <a:schemeClr val="tx2">
                    <a:lumMod val="60000"/>
                    <a:lumOff val="40000"/>
                  </a:schemeClr>
                </a:solidFill>
                <a:latin typeface="Bodoni MT" panose="020F0502020204030204" pitchFamily="34" charset="0"/>
              </a:rPr>
              <a:t>LA GESTION D’UN PROJET</a:t>
            </a:r>
          </a:p>
        </p:txBody>
      </p:sp>
      <p:sp>
        <p:nvSpPr>
          <p:cNvPr id="4" name="TextBox 3">
            <a:extLst>
              <a:ext uri="{FF2B5EF4-FFF2-40B4-BE49-F238E27FC236}">
                <a16:creationId xmlns:a16="http://schemas.microsoft.com/office/drawing/2014/main" id="{5023DD9E-815F-DD4D-9D44-A97F0AC4F7C7}"/>
              </a:ext>
            </a:extLst>
          </p:cNvPr>
          <p:cNvSpPr txBox="1"/>
          <p:nvPr/>
        </p:nvSpPr>
        <p:spPr>
          <a:xfrm>
            <a:off x="342658" y="1104271"/>
            <a:ext cx="6314618"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Définir le Personnel du Projet</a:t>
            </a:r>
          </a:p>
        </p:txBody>
      </p:sp>
      <p:pic>
        <p:nvPicPr>
          <p:cNvPr id="3" name="Picture 2">
            <a:extLst>
              <a:ext uri="{FF2B5EF4-FFF2-40B4-BE49-F238E27FC236}">
                <a16:creationId xmlns:a16="http://schemas.microsoft.com/office/drawing/2014/main" id="{44233EF7-CA67-814E-8888-AF9E38CA655C}"/>
              </a:ext>
            </a:extLst>
          </p:cNvPr>
          <p:cNvPicPr>
            <a:picLocks noChangeAspect="1"/>
          </p:cNvPicPr>
          <p:nvPr/>
        </p:nvPicPr>
        <p:blipFill>
          <a:blip r:embed="rId2"/>
          <a:stretch>
            <a:fillRect/>
          </a:stretch>
        </p:blipFill>
        <p:spPr>
          <a:xfrm>
            <a:off x="342658" y="1761495"/>
            <a:ext cx="8365114" cy="2710800"/>
          </a:xfrm>
          <a:prstGeom prst="rect">
            <a:avLst/>
          </a:prstGeom>
        </p:spPr>
      </p:pic>
    </p:spTree>
    <p:extLst>
      <p:ext uri="{BB962C8B-B14F-4D97-AF65-F5344CB8AC3E}">
        <p14:creationId xmlns:p14="http://schemas.microsoft.com/office/powerpoint/2010/main" val="40934514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7F41DBD-A850-454B-8AF4-D363A5A45EB2}"/>
              </a:ext>
            </a:extLst>
          </p:cNvPr>
          <p:cNvSpPr txBox="1">
            <a:spLocks/>
          </p:cNvSpPr>
          <p:nvPr/>
        </p:nvSpPr>
        <p:spPr>
          <a:xfrm>
            <a:off x="342660" y="205895"/>
            <a:ext cx="7886700" cy="593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H" sz="2800" b="1" dirty="0">
                <a:solidFill>
                  <a:schemeClr val="tx2">
                    <a:lumMod val="60000"/>
                    <a:lumOff val="40000"/>
                  </a:schemeClr>
                </a:solidFill>
                <a:latin typeface="Bodoni MT" panose="020F0502020204030204" pitchFamily="34" charset="0"/>
              </a:rPr>
              <a:t>LA GESTION D’UN PROJET</a:t>
            </a:r>
          </a:p>
        </p:txBody>
      </p:sp>
      <p:sp>
        <p:nvSpPr>
          <p:cNvPr id="4" name="TextBox 3">
            <a:extLst>
              <a:ext uri="{FF2B5EF4-FFF2-40B4-BE49-F238E27FC236}">
                <a16:creationId xmlns:a16="http://schemas.microsoft.com/office/drawing/2014/main" id="{5023DD9E-815F-DD4D-9D44-A97F0AC4F7C7}"/>
              </a:ext>
            </a:extLst>
          </p:cNvPr>
          <p:cNvSpPr txBox="1"/>
          <p:nvPr/>
        </p:nvSpPr>
        <p:spPr>
          <a:xfrm>
            <a:off x="342660" y="1093385"/>
            <a:ext cx="6314618"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Ajouter les documents du Projet</a:t>
            </a:r>
          </a:p>
        </p:txBody>
      </p:sp>
      <p:pic>
        <p:nvPicPr>
          <p:cNvPr id="3" name="Picture 2">
            <a:extLst>
              <a:ext uri="{FF2B5EF4-FFF2-40B4-BE49-F238E27FC236}">
                <a16:creationId xmlns:a16="http://schemas.microsoft.com/office/drawing/2014/main" id="{34F3EBAA-6F24-654F-B884-5618180A9A67}"/>
              </a:ext>
            </a:extLst>
          </p:cNvPr>
          <p:cNvPicPr>
            <a:picLocks noChangeAspect="1"/>
          </p:cNvPicPr>
          <p:nvPr/>
        </p:nvPicPr>
        <p:blipFill>
          <a:blip r:embed="rId2"/>
          <a:stretch>
            <a:fillRect/>
          </a:stretch>
        </p:blipFill>
        <p:spPr>
          <a:xfrm>
            <a:off x="342660" y="1639002"/>
            <a:ext cx="8266551" cy="1976117"/>
          </a:xfrm>
          <a:prstGeom prst="rect">
            <a:avLst/>
          </a:prstGeom>
        </p:spPr>
      </p:pic>
    </p:spTree>
    <p:extLst>
      <p:ext uri="{BB962C8B-B14F-4D97-AF65-F5344CB8AC3E}">
        <p14:creationId xmlns:p14="http://schemas.microsoft.com/office/powerpoint/2010/main" val="15524059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7F41DBD-A850-454B-8AF4-D363A5A45EB2}"/>
              </a:ext>
            </a:extLst>
          </p:cNvPr>
          <p:cNvSpPr txBox="1">
            <a:spLocks/>
          </p:cNvSpPr>
          <p:nvPr/>
        </p:nvSpPr>
        <p:spPr>
          <a:xfrm>
            <a:off x="342660" y="205895"/>
            <a:ext cx="7886700" cy="593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H" sz="2800" b="1" dirty="0">
                <a:solidFill>
                  <a:schemeClr val="tx2">
                    <a:lumMod val="60000"/>
                    <a:lumOff val="40000"/>
                  </a:schemeClr>
                </a:solidFill>
                <a:latin typeface="Bodoni MT" panose="020F0502020204030204" pitchFamily="34" charset="0"/>
              </a:rPr>
              <a:t>LA PLANIFICATION DU PROJET</a:t>
            </a:r>
          </a:p>
        </p:txBody>
      </p:sp>
      <p:sp>
        <p:nvSpPr>
          <p:cNvPr id="4" name="TextBox 3">
            <a:extLst>
              <a:ext uri="{FF2B5EF4-FFF2-40B4-BE49-F238E27FC236}">
                <a16:creationId xmlns:a16="http://schemas.microsoft.com/office/drawing/2014/main" id="{5023DD9E-815F-DD4D-9D44-A97F0AC4F7C7}"/>
              </a:ext>
            </a:extLst>
          </p:cNvPr>
          <p:cNvSpPr txBox="1"/>
          <p:nvPr/>
        </p:nvSpPr>
        <p:spPr>
          <a:xfrm>
            <a:off x="414594" y="766696"/>
            <a:ext cx="6314618"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Planifier les Dates et les Couts des Activités du Projet</a:t>
            </a:r>
          </a:p>
        </p:txBody>
      </p:sp>
      <p:cxnSp>
        <p:nvCxnSpPr>
          <p:cNvPr id="11" name="Straight Arrow Connector 10">
            <a:extLst>
              <a:ext uri="{FF2B5EF4-FFF2-40B4-BE49-F238E27FC236}">
                <a16:creationId xmlns:a16="http://schemas.microsoft.com/office/drawing/2014/main" id="{B7398174-7C3E-D847-B96F-2C94C8CAEE53}"/>
              </a:ext>
            </a:extLst>
          </p:cNvPr>
          <p:cNvCxnSpPr>
            <a:cxnSpLocks/>
          </p:cNvCxnSpPr>
          <p:nvPr/>
        </p:nvCxnSpPr>
        <p:spPr>
          <a:xfrm flipH="1">
            <a:off x="1534886" y="2830286"/>
            <a:ext cx="925755" cy="1132114"/>
          </a:xfrm>
          <a:prstGeom prst="straightConnector1">
            <a:avLst/>
          </a:prstGeom>
          <a:ln w="101600">
            <a:solidFill>
              <a:schemeClr val="accent2">
                <a:lumMod val="60000"/>
                <a:lumOff val="40000"/>
              </a:schemeClr>
            </a:solidFill>
            <a:miter lim="800000"/>
            <a:tailEnd type="stealth" w="lg" len="med"/>
          </a:ln>
        </p:spPr>
        <p:style>
          <a:lnRef idx="1">
            <a:schemeClr val="accent1"/>
          </a:lnRef>
          <a:fillRef idx="0">
            <a:schemeClr val="accent1"/>
          </a:fillRef>
          <a:effectRef idx="0">
            <a:schemeClr val="accent1"/>
          </a:effectRef>
          <a:fontRef idx="minor">
            <a:schemeClr val="tx1"/>
          </a:fontRef>
        </p:style>
      </p:cxnSp>
      <p:pic>
        <p:nvPicPr>
          <p:cNvPr id="3" name="Picture 2" descr="Graphical user interface, text, application&#10;&#10;Description automatically generated">
            <a:extLst>
              <a:ext uri="{FF2B5EF4-FFF2-40B4-BE49-F238E27FC236}">
                <a16:creationId xmlns:a16="http://schemas.microsoft.com/office/drawing/2014/main" id="{34D2C70E-0E2B-A740-9ADC-582F889C823F}"/>
              </a:ext>
            </a:extLst>
          </p:cNvPr>
          <p:cNvPicPr>
            <a:picLocks noChangeAspect="1"/>
          </p:cNvPicPr>
          <p:nvPr/>
        </p:nvPicPr>
        <p:blipFill>
          <a:blip r:embed="rId2"/>
          <a:stretch>
            <a:fillRect/>
          </a:stretch>
        </p:blipFill>
        <p:spPr>
          <a:xfrm>
            <a:off x="2523645" y="1179485"/>
            <a:ext cx="6314618" cy="2664276"/>
          </a:xfrm>
          <a:prstGeom prst="rect">
            <a:avLst/>
          </a:prstGeom>
        </p:spPr>
      </p:pic>
      <p:cxnSp>
        <p:nvCxnSpPr>
          <p:cNvPr id="12" name="Straight Arrow Connector 11">
            <a:extLst>
              <a:ext uri="{FF2B5EF4-FFF2-40B4-BE49-F238E27FC236}">
                <a16:creationId xmlns:a16="http://schemas.microsoft.com/office/drawing/2014/main" id="{6706DB66-FDB3-0B41-B775-49082553D0DB}"/>
              </a:ext>
            </a:extLst>
          </p:cNvPr>
          <p:cNvCxnSpPr>
            <a:cxnSpLocks/>
          </p:cNvCxnSpPr>
          <p:nvPr/>
        </p:nvCxnSpPr>
        <p:spPr>
          <a:xfrm>
            <a:off x="6814457" y="950126"/>
            <a:ext cx="1414903" cy="2576845"/>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14" descr="Graphical user interface, text, application&#10;&#10;Description automatically generated">
            <a:extLst>
              <a:ext uri="{FF2B5EF4-FFF2-40B4-BE49-F238E27FC236}">
                <a16:creationId xmlns:a16="http://schemas.microsoft.com/office/drawing/2014/main" id="{23774190-0BA6-2444-A043-1D463E44DBD5}"/>
              </a:ext>
            </a:extLst>
          </p:cNvPr>
          <p:cNvPicPr>
            <a:picLocks noChangeAspect="1"/>
          </p:cNvPicPr>
          <p:nvPr/>
        </p:nvPicPr>
        <p:blipFill>
          <a:blip r:embed="rId3"/>
          <a:stretch>
            <a:fillRect/>
          </a:stretch>
        </p:blipFill>
        <p:spPr>
          <a:xfrm>
            <a:off x="414594" y="4073120"/>
            <a:ext cx="4157406" cy="2146321"/>
          </a:xfrm>
          <a:prstGeom prst="rect">
            <a:avLst/>
          </a:prstGeom>
        </p:spPr>
      </p:pic>
      <p:cxnSp>
        <p:nvCxnSpPr>
          <p:cNvPr id="8" name="Straight Arrow Connector 7">
            <a:extLst>
              <a:ext uri="{FF2B5EF4-FFF2-40B4-BE49-F238E27FC236}">
                <a16:creationId xmlns:a16="http://schemas.microsoft.com/office/drawing/2014/main" id="{E6F3670B-1A4A-3E4E-9BDE-18BE64C10875}"/>
              </a:ext>
            </a:extLst>
          </p:cNvPr>
          <p:cNvCxnSpPr>
            <a:cxnSpLocks/>
          </p:cNvCxnSpPr>
          <p:nvPr/>
        </p:nvCxnSpPr>
        <p:spPr>
          <a:xfrm>
            <a:off x="6966857" y="1102526"/>
            <a:ext cx="1556417" cy="2513557"/>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46185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7F41DBD-A850-454B-8AF4-D363A5A45EB2}"/>
              </a:ext>
            </a:extLst>
          </p:cNvPr>
          <p:cNvSpPr txBox="1">
            <a:spLocks/>
          </p:cNvSpPr>
          <p:nvPr/>
        </p:nvSpPr>
        <p:spPr>
          <a:xfrm>
            <a:off x="342660" y="205895"/>
            <a:ext cx="7886700" cy="593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H" sz="2800" b="1" dirty="0">
                <a:solidFill>
                  <a:schemeClr val="tx2">
                    <a:lumMod val="60000"/>
                    <a:lumOff val="40000"/>
                  </a:schemeClr>
                </a:solidFill>
                <a:latin typeface="Bodoni MT" panose="020F0502020204030204" pitchFamily="34" charset="0"/>
              </a:rPr>
              <a:t>LA PLANIFICATION DU PROJET</a:t>
            </a:r>
          </a:p>
        </p:txBody>
      </p:sp>
      <p:sp>
        <p:nvSpPr>
          <p:cNvPr id="4" name="TextBox 3">
            <a:extLst>
              <a:ext uri="{FF2B5EF4-FFF2-40B4-BE49-F238E27FC236}">
                <a16:creationId xmlns:a16="http://schemas.microsoft.com/office/drawing/2014/main" id="{5023DD9E-815F-DD4D-9D44-A97F0AC4F7C7}"/>
              </a:ext>
            </a:extLst>
          </p:cNvPr>
          <p:cNvSpPr txBox="1"/>
          <p:nvPr/>
        </p:nvSpPr>
        <p:spPr>
          <a:xfrm>
            <a:off x="342660" y="780849"/>
            <a:ext cx="6314618"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Modifier une activité d’un Projet</a:t>
            </a:r>
          </a:p>
        </p:txBody>
      </p:sp>
      <p:pic>
        <p:nvPicPr>
          <p:cNvPr id="5" name="Picture 4" descr="Graphical user interface, application&#10;&#10;Description automatically generated">
            <a:extLst>
              <a:ext uri="{FF2B5EF4-FFF2-40B4-BE49-F238E27FC236}">
                <a16:creationId xmlns:a16="http://schemas.microsoft.com/office/drawing/2014/main" id="{D5BDB9EC-F207-4B47-B982-F7F72FDD4B83}"/>
              </a:ext>
            </a:extLst>
          </p:cNvPr>
          <p:cNvPicPr>
            <a:picLocks noChangeAspect="1"/>
          </p:cNvPicPr>
          <p:nvPr/>
        </p:nvPicPr>
        <p:blipFill>
          <a:blip r:embed="rId2"/>
          <a:stretch>
            <a:fillRect/>
          </a:stretch>
        </p:blipFill>
        <p:spPr>
          <a:xfrm>
            <a:off x="448276" y="1214290"/>
            <a:ext cx="5454813" cy="3465544"/>
          </a:xfrm>
          <a:prstGeom prst="rect">
            <a:avLst/>
          </a:prstGeom>
        </p:spPr>
      </p:pic>
      <p:pic>
        <p:nvPicPr>
          <p:cNvPr id="7" name="Picture 6" descr="Graphical user interface, application&#10;&#10;Description automatically generated">
            <a:extLst>
              <a:ext uri="{FF2B5EF4-FFF2-40B4-BE49-F238E27FC236}">
                <a16:creationId xmlns:a16="http://schemas.microsoft.com/office/drawing/2014/main" id="{C91D2474-CF9C-B041-9305-C9CD285308C4}"/>
              </a:ext>
            </a:extLst>
          </p:cNvPr>
          <p:cNvPicPr>
            <a:picLocks noChangeAspect="1"/>
          </p:cNvPicPr>
          <p:nvPr/>
        </p:nvPicPr>
        <p:blipFill rotWithShape="1">
          <a:blip r:embed="rId3"/>
          <a:srcRect t="61148"/>
          <a:stretch/>
        </p:blipFill>
        <p:spPr>
          <a:xfrm>
            <a:off x="2511707" y="4891594"/>
            <a:ext cx="6170270" cy="1504231"/>
          </a:xfrm>
          <a:prstGeom prst="rect">
            <a:avLst/>
          </a:prstGeom>
        </p:spPr>
      </p:pic>
    </p:spTree>
    <p:extLst>
      <p:ext uri="{BB962C8B-B14F-4D97-AF65-F5344CB8AC3E}">
        <p14:creationId xmlns:p14="http://schemas.microsoft.com/office/powerpoint/2010/main" val="17578828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7F41DBD-A850-454B-8AF4-D363A5A45EB2}"/>
              </a:ext>
            </a:extLst>
          </p:cNvPr>
          <p:cNvSpPr txBox="1">
            <a:spLocks/>
          </p:cNvSpPr>
          <p:nvPr/>
        </p:nvSpPr>
        <p:spPr>
          <a:xfrm>
            <a:off x="342660" y="205895"/>
            <a:ext cx="7886700" cy="593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H" sz="2800" b="1" dirty="0">
                <a:solidFill>
                  <a:schemeClr val="tx2">
                    <a:lumMod val="60000"/>
                    <a:lumOff val="40000"/>
                  </a:schemeClr>
                </a:solidFill>
                <a:latin typeface="Bodoni MT" panose="020F0502020204030204" pitchFamily="34" charset="0"/>
              </a:rPr>
              <a:t>LA PLANIFICATION DU PROJET</a:t>
            </a:r>
          </a:p>
        </p:txBody>
      </p:sp>
      <p:sp>
        <p:nvSpPr>
          <p:cNvPr id="4" name="TextBox 3">
            <a:extLst>
              <a:ext uri="{FF2B5EF4-FFF2-40B4-BE49-F238E27FC236}">
                <a16:creationId xmlns:a16="http://schemas.microsoft.com/office/drawing/2014/main" id="{5023DD9E-815F-DD4D-9D44-A97F0AC4F7C7}"/>
              </a:ext>
            </a:extLst>
          </p:cNvPr>
          <p:cNvSpPr txBox="1"/>
          <p:nvPr/>
        </p:nvSpPr>
        <p:spPr>
          <a:xfrm>
            <a:off x="342660" y="780849"/>
            <a:ext cx="6314618"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Définir les Cibles des Indicateurs du Projet</a:t>
            </a:r>
          </a:p>
        </p:txBody>
      </p:sp>
      <p:pic>
        <p:nvPicPr>
          <p:cNvPr id="5" name="Picture 4">
            <a:extLst>
              <a:ext uri="{FF2B5EF4-FFF2-40B4-BE49-F238E27FC236}">
                <a16:creationId xmlns:a16="http://schemas.microsoft.com/office/drawing/2014/main" id="{4D83B980-6233-9F4F-B33B-270D935AAAF9}"/>
              </a:ext>
            </a:extLst>
          </p:cNvPr>
          <p:cNvPicPr>
            <a:picLocks noChangeAspect="1"/>
          </p:cNvPicPr>
          <p:nvPr/>
        </p:nvPicPr>
        <p:blipFill>
          <a:blip r:embed="rId2"/>
          <a:stretch>
            <a:fillRect/>
          </a:stretch>
        </p:blipFill>
        <p:spPr>
          <a:xfrm>
            <a:off x="2219781" y="1304956"/>
            <a:ext cx="6314619" cy="2388677"/>
          </a:xfrm>
          <a:prstGeom prst="rect">
            <a:avLst/>
          </a:prstGeom>
        </p:spPr>
      </p:pic>
      <p:pic>
        <p:nvPicPr>
          <p:cNvPr id="8" name="Picture 7">
            <a:extLst>
              <a:ext uri="{FF2B5EF4-FFF2-40B4-BE49-F238E27FC236}">
                <a16:creationId xmlns:a16="http://schemas.microsoft.com/office/drawing/2014/main" id="{7A4D5AAE-42D3-C74C-A85F-A76A49788264}"/>
              </a:ext>
            </a:extLst>
          </p:cNvPr>
          <p:cNvPicPr>
            <a:picLocks noChangeAspect="1"/>
          </p:cNvPicPr>
          <p:nvPr/>
        </p:nvPicPr>
        <p:blipFill>
          <a:blip r:embed="rId3"/>
          <a:stretch>
            <a:fillRect/>
          </a:stretch>
        </p:blipFill>
        <p:spPr>
          <a:xfrm>
            <a:off x="349280" y="3879186"/>
            <a:ext cx="4222720" cy="2632119"/>
          </a:xfrm>
          <a:prstGeom prst="rect">
            <a:avLst/>
          </a:prstGeom>
        </p:spPr>
      </p:pic>
      <p:pic>
        <p:nvPicPr>
          <p:cNvPr id="10" name="Picture 9">
            <a:extLst>
              <a:ext uri="{FF2B5EF4-FFF2-40B4-BE49-F238E27FC236}">
                <a16:creationId xmlns:a16="http://schemas.microsoft.com/office/drawing/2014/main" id="{74060ACB-DFFB-E64C-B260-A780723ACB0B}"/>
              </a:ext>
            </a:extLst>
          </p:cNvPr>
          <p:cNvPicPr>
            <a:picLocks noChangeAspect="1"/>
          </p:cNvPicPr>
          <p:nvPr/>
        </p:nvPicPr>
        <p:blipFill rotWithShape="1">
          <a:blip r:embed="rId4"/>
          <a:srcRect t="52974"/>
          <a:stretch/>
        </p:blipFill>
        <p:spPr>
          <a:xfrm>
            <a:off x="2938206" y="4474207"/>
            <a:ext cx="5856514" cy="1185673"/>
          </a:xfrm>
          <a:prstGeom prst="rect">
            <a:avLst/>
          </a:prstGeom>
        </p:spPr>
      </p:pic>
      <p:cxnSp>
        <p:nvCxnSpPr>
          <p:cNvPr id="11" name="Straight Arrow Connector 10">
            <a:extLst>
              <a:ext uri="{FF2B5EF4-FFF2-40B4-BE49-F238E27FC236}">
                <a16:creationId xmlns:a16="http://schemas.microsoft.com/office/drawing/2014/main" id="{B7398174-7C3E-D847-B96F-2C94C8CAEE53}"/>
              </a:ext>
            </a:extLst>
          </p:cNvPr>
          <p:cNvCxnSpPr>
            <a:cxnSpLocks/>
          </p:cNvCxnSpPr>
          <p:nvPr/>
        </p:nvCxnSpPr>
        <p:spPr>
          <a:xfrm flipH="1">
            <a:off x="1419126" y="2310874"/>
            <a:ext cx="692703" cy="1475536"/>
          </a:xfrm>
          <a:prstGeom prst="straightConnector1">
            <a:avLst/>
          </a:prstGeom>
          <a:ln w="101600">
            <a:solidFill>
              <a:schemeClr val="accent2">
                <a:lumMod val="60000"/>
                <a:lumOff val="40000"/>
              </a:schemeClr>
            </a:solidFill>
            <a:miter lim="800000"/>
            <a:tailEnd type="stealth" w="lg"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465701F-A455-4C41-868A-ACA5C1C601BD}"/>
              </a:ext>
            </a:extLst>
          </p:cNvPr>
          <p:cNvCxnSpPr>
            <a:cxnSpLocks/>
          </p:cNvCxnSpPr>
          <p:nvPr/>
        </p:nvCxnSpPr>
        <p:spPr>
          <a:xfrm flipV="1">
            <a:off x="4572000" y="5695305"/>
            <a:ext cx="1045029" cy="745149"/>
          </a:xfrm>
          <a:prstGeom prst="straightConnector1">
            <a:avLst/>
          </a:prstGeom>
          <a:ln w="101600">
            <a:solidFill>
              <a:schemeClr val="accent2">
                <a:lumMod val="60000"/>
                <a:lumOff val="40000"/>
              </a:schemeClr>
            </a:solidFill>
            <a:miter lim="800000"/>
            <a:tailEnd type="stealth"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34709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7F41DBD-A850-454B-8AF4-D363A5A45EB2}"/>
              </a:ext>
            </a:extLst>
          </p:cNvPr>
          <p:cNvSpPr txBox="1">
            <a:spLocks/>
          </p:cNvSpPr>
          <p:nvPr/>
        </p:nvSpPr>
        <p:spPr>
          <a:xfrm>
            <a:off x="342660" y="205895"/>
            <a:ext cx="7886700" cy="593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H" sz="2800" b="1" dirty="0">
                <a:solidFill>
                  <a:schemeClr val="tx2">
                    <a:lumMod val="60000"/>
                    <a:lumOff val="40000"/>
                  </a:schemeClr>
                </a:solidFill>
                <a:latin typeface="Bodoni MT" panose="020F0502020204030204" pitchFamily="34" charset="0"/>
              </a:rPr>
              <a:t>LA PLANIFICATION DU PROJET</a:t>
            </a:r>
          </a:p>
        </p:txBody>
      </p:sp>
      <p:sp>
        <p:nvSpPr>
          <p:cNvPr id="4" name="TextBox 3">
            <a:extLst>
              <a:ext uri="{FF2B5EF4-FFF2-40B4-BE49-F238E27FC236}">
                <a16:creationId xmlns:a16="http://schemas.microsoft.com/office/drawing/2014/main" id="{5023DD9E-815F-DD4D-9D44-A97F0AC4F7C7}"/>
              </a:ext>
            </a:extLst>
          </p:cNvPr>
          <p:cNvSpPr txBox="1"/>
          <p:nvPr/>
        </p:nvSpPr>
        <p:spPr>
          <a:xfrm>
            <a:off x="342660" y="780849"/>
            <a:ext cx="6314618"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Exporter des données sur un Projet</a:t>
            </a:r>
          </a:p>
        </p:txBody>
      </p:sp>
      <p:pic>
        <p:nvPicPr>
          <p:cNvPr id="5" name="Picture 4" descr="Graphical user interface, text, application&#10;&#10;Description automatically generated">
            <a:extLst>
              <a:ext uri="{FF2B5EF4-FFF2-40B4-BE49-F238E27FC236}">
                <a16:creationId xmlns:a16="http://schemas.microsoft.com/office/drawing/2014/main" id="{1A900099-D1C5-4347-B72E-3CF2AF58BA3B}"/>
              </a:ext>
            </a:extLst>
          </p:cNvPr>
          <p:cNvPicPr>
            <a:picLocks noChangeAspect="1"/>
          </p:cNvPicPr>
          <p:nvPr/>
        </p:nvPicPr>
        <p:blipFill>
          <a:blip r:embed="rId2"/>
          <a:stretch>
            <a:fillRect/>
          </a:stretch>
        </p:blipFill>
        <p:spPr>
          <a:xfrm>
            <a:off x="7205468" y="346876"/>
            <a:ext cx="1473200" cy="1206500"/>
          </a:xfrm>
          <a:prstGeom prst="rect">
            <a:avLst/>
          </a:prstGeom>
        </p:spPr>
      </p:pic>
      <p:pic>
        <p:nvPicPr>
          <p:cNvPr id="8" name="Picture 7" descr="Graphical user interface, text, application&#10;&#10;Description automatically generated">
            <a:extLst>
              <a:ext uri="{FF2B5EF4-FFF2-40B4-BE49-F238E27FC236}">
                <a16:creationId xmlns:a16="http://schemas.microsoft.com/office/drawing/2014/main" id="{9A1765C6-216B-4C49-BCAC-9F91A2076B95}"/>
              </a:ext>
            </a:extLst>
          </p:cNvPr>
          <p:cNvPicPr>
            <a:picLocks noChangeAspect="1"/>
          </p:cNvPicPr>
          <p:nvPr/>
        </p:nvPicPr>
        <p:blipFill>
          <a:blip r:embed="rId3"/>
          <a:stretch>
            <a:fillRect/>
          </a:stretch>
        </p:blipFill>
        <p:spPr>
          <a:xfrm>
            <a:off x="465332" y="1248456"/>
            <a:ext cx="4787688" cy="1464978"/>
          </a:xfrm>
          <a:prstGeom prst="rect">
            <a:avLst/>
          </a:prstGeom>
        </p:spPr>
      </p:pic>
      <p:pic>
        <p:nvPicPr>
          <p:cNvPr id="10" name="Picture 9" descr="Graphical user interface, application, table, Excel&#10;&#10;Description automatically generated">
            <a:extLst>
              <a:ext uri="{FF2B5EF4-FFF2-40B4-BE49-F238E27FC236}">
                <a16:creationId xmlns:a16="http://schemas.microsoft.com/office/drawing/2014/main" id="{801F588C-86AA-C440-BBA0-42EABA3AC774}"/>
              </a:ext>
            </a:extLst>
          </p:cNvPr>
          <p:cNvPicPr>
            <a:picLocks noChangeAspect="1"/>
          </p:cNvPicPr>
          <p:nvPr/>
        </p:nvPicPr>
        <p:blipFill>
          <a:blip r:embed="rId4"/>
          <a:stretch>
            <a:fillRect/>
          </a:stretch>
        </p:blipFill>
        <p:spPr>
          <a:xfrm>
            <a:off x="493026" y="3081632"/>
            <a:ext cx="6792686" cy="3310851"/>
          </a:xfrm>
          <a:prstGeom prst="rect">
            <a:avLst/>
          </a:prstGeom>
        </p:spPr>
      </p:pic>
      <p:cxnSp>
        <p:nvCxnSpPr>
          <p:cNvPr id="11" name="Straight Arrow Connector 10">
            <a:extLst>
              <a:ext uri="{FF2B5EF4-FFF2-40B4-BE49-F238E27FC236}">
                <a16:creationId xmlns:a16="http://schemas.microsoft.com/office/drawing/2014/main" id="{5D1558FC-1830-3248-9E29-7908A2DE0D21}"/>
              </a:ext>
            </a:extLst>
          </p:cNvPr>
          <p:cNvCxnSpPr>
            <a:cxnSpLocks/>
          </p:cNvCxnSpPr>
          <p:nvPr/>
        </p:nvCxnSpPr>
        <p:spPr>
          <a:xfrm flipV="1">
            <a:off x="6966857" y="937549"/>
            <a:ext cx="637710" cy="164977"/>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2343A4A-66ED-B743-91B3-5AB6714F1FD5}"/>
              </a:ext>
            </a:extLst>
          </p:cNvPr>
          <p:cNvCxnSpPr>
            <a:cxnSpLocks/>
          </p:cNvCxnSpPr>
          <p:nvPr/>
        </p:nvCxnSpPr>
        <p:spPr>
          <a:xfrm flipH="1">
            <a:off x="5349240" y="1237898"/>
            <a:ext cx="1736923" cy="456459"/>
          </a:xfrm>
          <a:prstGeom prst="straightConnector1">
            <a:avLst/>
          </a:prstGeom>
          <a:ln w="101600">
            <a:solidFill>
              <a:schemeClr val="accent2">
                <a:lumMod val="60000"/>
                <a:lumOff val="40000"/>
              </a:schemeClr>
            </a:solidFill>
            <a:miter lim="800000"/>
            <a:tailEnd type="stealth" w="lg"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0537102-D658-7640-969B-40B1ACE09292}"/>
              </a:ext>
            </a:extLst>
          </p:cNvPr>
          <p:cNvCxnSpPr>
            <a:cxnSpLocks/>
          </p:cNvCxnSpPr>
          <p:nvPr/>
        </p:nvCxnSpPr>
        <p:spPr>
          <a:xfrm>
            <a:off x="4078224" y="2713434"/>
            <a:ext cx="0" cy="368198"/>
          </a:xfrm>
          <a:prstGeom prst="straightConnector1">
            <a:avLst/>
          </a:prstGeom>
          <a:ln w="101600">
            <a:solidFill>
              <a:schemeClr val="accent2">
                <a:lumMod val="60000"/>
                <a:lumOff val="40000"/>
              </a:schemeClr>
            </a:solidFill>
            <a:miter lim="800000"/>
            <a:tailEnd type="stealth" w="lg"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008D988-6DBD-7F4B-A3E7-54C048CB32B5}"/>
              </a:ext>
            </a:extLst>
          </p:cNvPr>
          <p:cNvSpPr txBox="1"/>
          <p:nvPr/>
        </p:nvSpPr>
        <p:spPr>
          <a:xfrm>
            <a:off x="5349240" y="1992038"/>
            <a:ext cx="2651760" cy="830997"/>
          </a:xfrm>
          <a:prstGeom prst="rect">
            <a:avLst/>
          </a:prstGeom>
          <a:noFill/>
        </p:spPr>
        <p:txBody>
          <a:bodyPr wrap="square" rtlCol="0">
            <a:spAutoFit/>
          </a:bodyPr>
          <a:lstStyle/>
          <a:p>
            <a:r>
              <a:rPr lang="en-GH" sz="1600" b="1" dirty="0">
                <a:solidFill>
                  <a:srgbClr val="FF0000"/>
                </a:solidFill>
              </a:rPr>
              <a:t>Export sous excel de données de rapport des projets</a:t>
            </a:r>
          </a:p>
        </p:txBody>
      </p:sp>
    </p:spTree>
    <p:extLst>
      <p:ext uri="{BB962C8B-B14F-4D97-AF65-F5344CB8AC3E}">
        <p14:creationId xmlns:p14="http://schemas.microsoft.com/office/powerpoint/2010/main" val="14808304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7F41DBD-A850-454B-8AF4-D363A5A45EB2}"/>
              </a:ext>
            </a:extLst>
          </p:cNvPr>
          <p:cNvSpPr txBox="1">
            <a:spLocks/>
          </p:cNvSpPr>
          <p:nvPr/>
        </p:nvSpPr>
        <p:spPr>
          <a:xfrm>
            <a:off x="342660" y="205895"/>
            <a:ext cx="7886700" cy="593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H" sz="2800" b="1" dirty="0">
                <a:solidFill>
                  <a:schemeClr val="tx2">
                    <a:lumMod val="60000"/>
                    <a:lumOff val="40000"/>
                  </a:schemeClr>
                </a:solidFill>
                <a:latin typeface="Bodoni MT" panose="020F0502020204030204" pitchFamily="34" charset="0"/>
              </a:rPr>
              <a:t>LA PLANIFICATION DU PROJET</a:t>
            </a:r>
          </a:p>
        </p:txBody>
      </p:sp>
      <p:sp>
        <p:nvSpPr>
          <p:cNvPr id="4" name="TextBox 3">
            <a:extLst>
              <a:ext uri="{FF2B5EF4-FFF2-40B4-BE49-F238E27FC236}">
                <a16:creationId xmlns:a16="http://schemas.microsoft.com/office/drawing/2014/main" id="{5023DD9E-815F-DD4D-9D44-A97F0AC4F7C7}"/>
              </a:ext>
            </a:extLst>
          </p:cNvPr>
          <p:cNvSpPr txBox="1"/>
          <p:nvPr/>
        </p:nvSpPr>
        <p:spPr>
          <a:xfrm>
            <a:off x="342660" y="780849"/>
            <a:ext cx="6314618"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Exporter des données sur un Projet</a:t>
            </a:r>
          </a:p>
        </p:txBody>
      </p:sp>
      <p:pic>
        <p:nvPicPr>
          <p:cNvPr id="3" name="Picture 2" descr="Graphical user interface, application, table&#10;&#10;Description automatically generated">
            <a:extLst>
              <a:ext uri="{FF2B5EF4-FFF2-40B4-BE49-F238E27FC236}">
                <a16:creationId xmlns:a16="http://schemas.microsoft.com/office/drawing/2014/main" id="{8CE7E678-38F3-7143-9C07-4B878EB758F3}"/>
              </a:ext>
            </a:extLst>
          </p:cNvPr>
          <p:cNvPicPr>
            <a:picLocks noChangeAspect="1"/>
          </p:cNvPicPr>
          <p:nvPr/>
        </p:nvPicPr>
        <p:blipFill>
          <a:blip r:embed="rId2"/>
          <a:stretch>
            <a:fillRect/>
          </a:stretch>
        </p:blipFill>
        <p:spPr>
          <a:xfrm>
            <a:off x="534302" y="1187574"/>
            <a:ext cx="5758544" cy="2350645"/>
          </a:xfrm>
          <a:prstGeom prst="rect">
            <a:avLst/>
          </a:prstGeom>
        </p:spPr>
      </p:pic>
      <p:pic>
        <p:nvPicPr>
          <p:cNvPr id="9" name="Picture 8" descr="Application, timeline&#10;&#10;Description automatically generated with medium confidence">
            <a:extLst>
              <a:ext uri="{FF2B5EF4-FFF2-40B4-BE49-F238E27FC236}">
                <a16:creationId xmlns:a16="http://schemas.microsoft.com/office/drawing/2014/main" id="{F9C26C35-C708-484A-8769-995562AA3FD4}"/>
              </a:ext>
            </a:extLst>
          </p:cNvPr>
          <p:cNvPicPr>
            <a:picLocks noChangeAspect="1"/>
          </p:cNvPicPr>
          <p:nvPr/>
        </p:nvPicPr>
        <p:blipFill>
          <a:blip r:embed="rId3"/>
          <a:stretch>
            <a:fillRect/>
          </a:stretch>
        </p:blipFill>
        <p:spPr>
          <a:xfrm>
            <a:off x="3454518" y="3040705"/>
            <a:ext cx="5155180" cy="2992741"/>
          </a:xfrm>
          <a:prstGeom prst="rect">
            <a:avLst/>
          </a:prstGeom>
        </p:spPr>
      </p:pic>
    </p:spTree>
    <p:extLst>
      <p:ext uri="{BB962C8B-B14F-4D97-AF65-F5344CB8AC3E}">
        <p14:creationId xmlns:p14="http://schemas.microsoft.com/office/powerpoint/2010/main" val="40158514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7F41DBD-A850-454B-8AF4-D363A5A45EB2}"/>
              </a:ext>
            </a:extLst>
          </p:cNvPr>
          <p:cNvSpPr txBox="1">
            <a:spLocks/>
          </p:cNvSpPr>
          <p:nvPr/>
        </p:nvSpPr>
        <p:spPr>
          <a:xfrm>
            <a:off x="342660" y="205895"/>
            <a:ext cx="7886700" cy="593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H" sz="2800" b="1" dirty="0">
                <a:solidFill>
                  <a:schemeClr val="tx2">
                    <a:lumMod val="60000"/>
                    <a:lumOff val="40000"/>
                  </a:schemeClr>
                </a:solidFill>
                <a:latin typeface="Bodoni MT" panose="020F0502020204030204" pitchFamily="34" charset="0"/>
              </a:rPr>
              <a:t>LA PLANIFICATION DU PROJET</a:t>
            </a:r>
          </a:p>
        </p:txBody>
      </p:sp>
      <p:sp>
        <p:nvSpPr>
          <p:cNvPr id="4" name="TextBox 3">
            <a:extLst>
              <a:ext uri="{FF2B5EF4-FFF2-40B4-BE49-F238E27FC236}">
                <a16:creationId xmlns:a16="http://schemas.microsoft.com/office/drawing/2014/main" id="{5023DD9E-815F-DD4D-9D44-A97F0AC4F7C7}"/>
              </a:ext>
            </a:extLst>
          </p:cNvPr>
          <p:cNvSpPr txBox="1"/>
          <p:nvPr/>
        </p:nvSpPr>
        <p:spPr>
          <a:xfrm>
            <a:off x="342660" y="780849"/>
            <a:ext cx="6314618"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Planifier les cibles du Projet</a:t>
            </a:r>
          </a:p>
        </p:txBody>
      </p:sp>
      <p:pic>
        <p:nvPicPr>
          <p:cNvPr id="5" name="Picture 4" descr="Graphical user interface, text, application, email&#10;&#10;Description automatically generated">
            <a:extLst>
              <a:ext uri="{FF2B5EF4-FFF2-40B4-BE49-F238E27FC236}">
                <a16:creationId xmlns:a16="http://schemas.microsoft.com/office/drawing/2014/main" id="{F5BB90B3-52AE-B840-A92B-6DB4D2D5C795}"/>
              </a:ext>
            </a:extLst>
          </p:cNvPr>
          <p:cNvPicPr>
            <a:picLocks noChangeAspect="1"/>
          </p:cNvPicPr>
          <p:nvPr/>
        </p:nvPicPr>
        <p:blipFill>
          <a:blip r:embed="rId2"/>
          <a:stretch>
            <a:fillRect/>
          </a:stretch>
        </p:blipFill>
        <p:spPr>
          <a:xfrm>
            <a:off x="429768" y="1147232"/>
            <a:ext cx="5973645" cy="2601935"/>
          </a:xfrm>
          <a:prstGeom prst="rect">
            <a:avLst/>
          </a:prstGeom>
        </p:spPr>
      </p:pic>
      <p:pic>
        <p:nvPicPr>
          <p:cNvPr id="8" name="Picture 7" descr="Graphical user interface, text, application&#10;&#10;Description automatically generated">
            <a:extLst>
              <a:ext uri="{FF2B5EF4-FFF2-40B4-BE49-F238E27FC236}">
                <a16:creationId xmlns:a16="http://schemas.microsoft.com/office/drawing/2014/main" id="{1BB4DE46-5142-7548-83C8-7EEBD061B949}"/>
              </a:ext>
            </a:extLst>
          </p:cNvPr>
          <p:cNvPicPr>
            <a:picLocks noChangeAspect="1"/>
          </p:cNvPicPr>
          <p:nvPr/>
        </p:nvPicPr>
        <p:blipFill>
          <a:blip r:embed="rId3"/>
          <a:stretch>
            <a:fillRect/>
          </a:stretch>
        </p:blipFill>
        <p:spPr>
          <a:xfrm>
            <a:off x="3831336" y="3429000"/>
            <a:ext cx="4638816" cy="2920915"/>
          </a:xfrm>
          <a:prstGeom prst="rect">
            <a:avLst/>
          </a:prstGeom>
        </p:spPr>
      </p:pic>
      <p:cxnSp>
        <p:nvCxnSpPr>
          <p:cNvPr id="10" name="Straight Arrow Connector 9">
            <a:extLst>
              <a:ext uri="{FF2B5EF4-FFF2-40B4-BE49-F238E27FC236}">
                <a16:creationId xmlns:a16="http://schemas.microsoft.com/office/drawing/2014/main" id="{8C6EEF90-5E4D-8146-9C00-320FEF149881}"/>
              </a:ext>
            </a:extLst>
          </p:cNvPr>
          <p:cNvCxnSpPr>
            <a:cxnSpLocks/>
          </p:cNvCxnSpPr>
          <p:nvPr/>
        </p:nvCxnSpPr>
        <p:spPr>
          <a:xfrm flipH="1">
            <a:off x="6263640" y="2286873"/>
            <a:ext cx="393638" cy="752142"/>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85158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7F41DBD-A850-454B-8AF4-D363A5A45EB2}"/>
              </a:ext>
            </a:extLst>
          </p:cNvPr>
          <p:cNvSpPr txBox="1">
            <a:spLocks/>
          </p:cNvSpPr>
          <p:nvPr/>
        </p:nvSpPr>
        <p:spPr>
          <a:xfrm>
            <a:off x="342660" y="205895"/>
            <a:ext cx="7886700" cy="593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H" sz="2800" b="1" dirty="0">
                <a:solidFill>
                  <a:schemeClr val="tx2">
                    <a:lumMod val="60000"/>
                    <a:lumOff val="40000"/>
                  </a:schemeClr>
                </a:solidFill>
                <a:latin typeface="Bodoni MT" panose="020F0502020204030204" pitchFamily="34" charset="0"/>
              </a:rPr>
              <a:t>LE SUIVI DE LA MISE EN EOUVRE DU PROJET</a:t>
            </a:r>
          </a:p>
        </p:txBody>
      </p:sp>
      <p:sp>
        <p:nvSpPr>
          <p:cNvPr id="4" name="TextBox 3">
            <a:extLst>
              <a:ext uri="{FF2B5EF4-FFF2-40B4-BE49-F238E27FC236}">
                <a16:creationId xmlns:a16="http://schemas.microsoft.com/office/drawing/2014/main" id="{5023DD9E-815F-DD4D-9D44-A97F0AC4F7C7}"/>
              </a:ext>
            </a:extLst>
          </p:cNvPr>
          <p:cNvSpPr txBox="1"/>
          <p:nvPr/>
        </p:nvSpPr>
        <p:spPr>
          <a:xfrm>
            <a:off x="342660" y="780849"/>
            <a:ext cx="6314618"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Rendre compte de l’execution du Projet</a:t>
            </a:r>
          </a:p>
        </p:txBody>
      </p:sp>
      <p:pic>
        <p:nvPicPr>
          <p:cNvPr id="9" name="Picture 8" descr="Graphical user interface, text, application, chat or text message&#10;&#10;Description automatically generated">
            <a:extLst>
              <a:ext uri="{FF2B5EF4-FFF2-40B4-BE49-F238E27FC236}">
                <a16:creationId xmlns:a16="http://schemas.microsoft.com/office/drawing/2014/main" id="{E6BB2667-AA64-9645-9C94-0A079BED83F2}"/>
              </a:ext>
            </a:extLst>
          </p:cNvPr>
          <p:cNvPicPr>
            <a:picLocks noChangeAspect="1"/>
          </p:cNvPicPr>
          <p:nvPr/>
        </p:nvPicPr>
        <p:blipFill>
          <a:blip r:embed="rId2"/>
          <a:stretch>
            <a:fillRect/>
          </a:stretch>
        </p:blipFill>
        <p:spPr>
          <a:xfrm>
            <a:off x="447185" y="1301569"/>
            <a:ext cx="3054967" cy="976927"/>
          </a:xfrm>
          <a:prstGeom prst="rect">
            <a:avLst/>
          </a:prstGeom>
        </p:spPr>
      </p:pic>
      <p:cxnSp>
        <p:nvCxnSpPr>
          <p:cNvPr id="12" name="Straight Arrow Connector 11">
            <a:extLst>
              <a:ext uri="{FF2B5EF4-FFF2-40B4-BE49-F238E27FC236}">
                <a16:creationId xmlns:a16="http://schemas.microsoft.com/office/drawing/2014/main" id="{D1BB3612-1AFA-7F40-8947-A9A9F7194C2B}"/>
              </a:ext>
            </a:extLst>
          </p:cNvPr>
          <p:cNvCxnSpPr>
            <a:cxnSpLocks/>
          </p:cNvCxnSpPr>
          <p:nvPr/>
        </p:nvCxnSpPr>
        <p:spPr>
          <a:xfrm flipH="1">
            <a:off x="3154680" y="1235313"/>
            <a:ext cx="1417320" cy="554719"/>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14" descr="Graphical user interface, application&#10;&#10;Description automatically generated">
            <a:extLst>
              <a:ext uri="{FF2B5EF4-FFF2-40B4-BE49-F238E27FC236}">
                <a16:creationId xmlns:a16="http://schemas.microsoft.com/office/drawing/2014/main" id="{E1FD670F-104E-B94F-80BE-4908EE345E6B}"/>
              </a:ext>
            </a:extLst>
          </p:cNvPr>
          <p:cNvPicPr>
            <a:picLocks noChangeAspect="1"/>
          </p:cNvPicPr>
          <p:nvPr/>
        </p:nvPicPr>
        <p:blipFill>
          <a:blip r:embed="rId3"/>
          <a:stretch>
            <a:fillRect/>
          </a:stretch>
        </p:blipFill>
        <p:spPr>
          <a:xfrm>
            <a:off x="342660" y="2552102"/>
            <a:ext cx="8326085" cy="2303362"/>
          </a:xfrm>
          <a:prstGeom prst="rect">
            <a:avLst/>
          </a:prstGeom>
        </p:spPr>
      </p:pic>
      <p:cxnSp>
        <p:nvCxnSpPr>
          <p:cNvPr id="16" name="Straight Arrow Connector 15">
            <a:extLst>
              <a:ext uri="{FF2B5EF4-FFF2-40B4-BE49-F238E27FC236}">
                <a16:creationId xmlns:a16="http://schemas.microsoft.com/office/drawing/2014/main" id="{6C698E0C-FC7E-2248-B3CF-B497245E8605}"/>
              </a:ext>
            </a:extLst>
          </p:cNvPr>
          <p:cNvCxnSpPr>
            <a:cxnSpLocks/>
          </p:cNvCxnSpPr>
          <p:nvPr/>
        </p:nvCxnSpPr>
        <p:spPr>
          <a:xfrm>
            <a:off x="4572000" y="1235313"/>
            <a:ext cx="3337560" cy="2751471"/>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4451983-ECB2-A44A-AE66-26A8D6082750}"/>
              </a:ext>
            </a:extLst>
          </p:cNvPr>
          <p:cNvCxnSpPr>
            <a:cxnSpLocks/>
          </p:cNvCxnSpPr>
          <p:nvPr/>
        </p:nvCxnSpPr>
        <p:spPr>
          <a:xfrm>
            <a:off x="6739128" y="3026664"/>
            <a:ext cx="1368552" cy="960120"/>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994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7F41DBD-A850-454B-8AF4-D363A5A45EB2}"/>
              </a:ext>
            </a:extLst>
          </p:cNvPr>
          <p:cNvSpPr txBox="1">
            <a:spLocks/>
          </p:cNvSpPr>
          <p:nvPr/>
        </p:nvSpPr>
        <p:spPr>
          <a:xfrm>
            <a:off x="342660" y="205895"/>
            <a:ext cx="7886700" cy="593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H" sz="2800" b="1" dirty="0">
                <a:solidFill>
                  <a:schemeClr val="tx2">
                    <a:lumMod val="60000"/>
                    <a:lumOff val="40000"/>
                  </a:schemeClr>
                </a:solidFill>
                <a:latin typeface="Bodoni MT" panose="020F0502020204030204" pitchFamily="34" charset="0"/>
              </a:rPr>
              <a:t>LA PLANIFICATION DU PROJET</a:t>
            </a:r>
          </a:p>
        </p:txBody>
      </p:sp>
      <p:sp>
        <p:nvSpPr>
          <p:cNvPr id="4" name="TextBox 3">
            <a:extLst>
              <a:ext uri="{FF2B5EF4-FFF2-40B4-BE49-F238E27FC236}">
                <a16:creationId xmlns:a16="http://schemas.microsoft.com/office/drawing/2014/main" id="{5023DD9E-815F-DD4D-9D44-A97F0AC4F7C7}"/>
              </a:ext>
            </a:extLst>
          </p:cNvPr>
          <p:cNvSpPr txBox="1"/>
          <p:nvPr/>
        </p:nvSpPr>
        <p:spPr>
          <a:xfrm>
            <a:off x="342660" y="780849"/>
            <a:ext cx="6314618"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Rendre compte de l’execution du Projet</a:t>
            </a:r>
          </a:p>
        </p:txBody>
      </p:sp>
      <p:pic>
        <p:nvPicPr>
          <p:cNvPr id="11" name="Picture 10" descr="Graphical user interface, application&#10;&#10;Description automatically generated">
            <a:extLst>
              <a:ext uri="{FF2B5EF4-FFF2-40B4-BE49-F238E27FC236}">
                <a16:creationId xmlns:a16="http://schemas.microsoft.com/office/drawing/2014/main" id="{96881D40-0E35-9A4F-99DF-FE53F0CDA9EE}"/>
              </a:ext>
            </a:extLst>
          </p:cNvPr>
          <p:cNvPicPr>
            <a:picLocks noChangeAspect="1"/>
          </p:cNvPicPr>
          <p:nvPr/>
        </p:nvPicPr>
        <p:blipFill>
          <a:blip r:embed="rId2"/>
          <a:stretch>
            <a:fillRect/>
          </a:stretch>
        </p:blipFill>
        <p:spPr>
          <a:xfrm>
            <a:off x="451987" y="1225952"/>
            <a:ext cx="4714373" cy="2138428"/>
          </a:xfrm>
          <a:prstGeom prst="rect">
            <a:avLst/>
          </a:prstGeom>
        </p:spPr>
      </p:pic>
      <p:pic>
        <p:nvPicPr>
          <p:cNvPr id="10" name="Picture 9" descr="Graphical user interface, text, application&#10;&#10;Description automatically generated">
            <a:extLst>
              <a:ext uri="{FF2B5EF4-FFF2-40B4-BE49-F238E27FC236}">
                <a16:creationId xmlns:a16="http://schemas.microsoft.com/office/drawing/2014/main" id="{044D200F-CF79-C44B-B5FC-7934C98E7AB0}"/>
              </a:ext>
            </a:extLst>
          </p:cNvPr>
          <p:cNvPicPr>
            <a:picLocks noChangeAspect="1"/>
          </p:cNvPicPr>
          <p:nvPr/>
        </p:nvPicPr>
        <p:blipFill>
          <a:blip r:embed="rId3"/>
          <a:stretch>
            <a:fillRect/>
          </a:stretch>
        </p:blipFill>
        <p:spPr>
          <a:xfrm>
            <a:off x="3858768" y="2932300"/>
            <a:ext cx="5285232" cy="3680661"/>
          </a:xfrm>
          <a:prstGeom prst="rect">
            <a:avLst/>
          </a:prstGeom>
        </p:spPr>
      </p:pic>
    </p:spTree>
    <p:extLst>
      <p:ext uri="{BB962C8B-B14F-4D97-AF65-F5344CB8AC3E}">
        <p14:creationId xmlns:p14="http://schemas.microsoft.com/office/powerpoint/2010/main" val="38620649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7F41DBD-A850-454B-8AF4-D363A5A45EB2}"/>
              </a:ext>
            </a:extLst>
          </p:cNvPr>
          <p:cNvSpPr txBox="1">
            <a:spLocks/>
          </p:cNvSpPr>
          <p:nvPr/>
        </p:nvSpPr>
        <p:spPr>
          <a:xfrm>
            <a:off x="342660" y="205895"/>
            <a:ext cx="7886700" cy="593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H" sz="2800" b="1" dirty="0">
                <a:solidFill>
                  <a:schemeClr val="tx2">
                    <a:lumMod val="60000"/>
                    <a:lumOff val="40000"/>
                  </a:schemeClr>
                </a:solidFill>
                <a:latin typeface="Bodoni MT" panose="020F0502020204030204" pitchFamily="34" charset="0"/>
              </a:rPr>
              <a:t>LA PLANIFICATION DU PROJET</a:t>
            </a:r>
          </a:p>
        </p:txBody>
      </p:sp>
      <p:sp>
        <p:nvSpPr>
          <p:cNvPr id="4" name="TextBox 3">
            <a:extLst>
              <a:ext uri="{FF2B5EF4-FFF2-40B4-BE49-F238E27FC236}">
                <a16:creationId xmlns:a16="http://schemas.microsoft.com/office/drawing/2014/main" id="{5023DD9E-815F-DD4D-9D44-A97F0AC4F7C7}"/>
              </a:ext>
            </a:extLst>
          </p:cNvPr>
          <p:cNvSpPr txBox="1"/>
          <p:nvPr/>
        </p:nvSpPr>
        <p:spPr>
          <a:xfrm>
            <a:off x="342660" y="780849"/>
            <a:ext cx="6314618"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Renseigner les resultats par indicateur du Projet</a:t>
            </a:r>
          </a:p>
        </p:txBody>
      </p:sp>
      <p:pic>
        <p:nvPicPr>
          <p:cNvPr id="5" name="Picture 4" descr="Graphical user interface, text, application, email&#10;&#10;Description automatically generated">
            <a:extLst>
              <a:ext uri="{FF2B5EF4-FFF2-40B4-BE49-F238E27FC236}">
                <a16:creationId xmlns:a16="http://schemas.microsoft.com/office/drawing/2014/main" id="{3B34706F-E74B-B046-A25F-02D168B02AFC}"/>
              </a:ext>
            </a:extLst>
          </p:cNvPr>
          <p:cNvPicPr>
            <a:picLocks noChangeAspect="1"/>
          </p:cNvPicPr>
          <p:nvPr/>
        </p:nvPicPr>
        <p:blipFill>
          <a:blip r:embed="rId2"/>
          <a:stretch>
            <a:fillRect/>
          </a:stretch>
        </p:blipFill>
        <p:spPr>
          <a:xfrm>
            <a:off x="435189" y="1213682"/>
            <a:ext cx="5846739" cy="2200763"/>
          </a:xfrm>
          <a:prstGeom prst="rect">
            <a:avLst/>
          </a:prstGeom>
        </p:spPr>
      </p:pic>
      <p:pic>
        <p:nvPicPr>
          <p:cNvPr id="8" name="Picture 7" descr="Graphical user interface, application&#10;&#10;Description automatically generated">
            <a:extLst>
              <a:ext uri="{FF2B5EF4-FFF2-40B4-BE49-F238E27FC236}">
                <a16:creationId xmlns:a16="http://schemas.microsoft.com/office/drawing/2014/main" id="{BF8855FF-AD9D-B14D-8E06-12E92E4E45D1}"/>
              </a:ext>
            </a:extLst>
          </p:cNvPr>
          <p:cNvPicPr>
            <a:picLocks noChangeAspect="1"/>
          </p:cNvPicPr>
          <p:nvPr/>
        </p:nvPicPr>
        <p:blipFill>
          <a:blip r:embed="rId3"/>
          <a:stretch>
            <a:fillRect/>
          </a:stretch>
        </p:blipFill>
        <p:spPr>
          <a:xfrm>
            <a:off x="4352544" y="3638771"/>
            <a:ext cx="4359510" cy="2695713"/>
          </a:xfrm>
          <a:prstGeom prst="rect">
            <a:avLst/>
          </a:prstGeom>
        </p:spPr>
      </p:pic>
      <p:cxnSp>
        <p:nvCxnSpPr>
          <p:cNvPr id="9" name="Straight Arrow Connector 8">
            <a:extLst>
              <a:ext uri="{FF2B5EF4-FFF2-40B4-BE49-F238E27FC236}">
                <a16:creationId xmlns:a16="http://schemas.microsoft.com/office/drawing/2014/main" id="{9F12A8B2-154A-5149-A828-09866D1F5EEE}"/>
              </a:ext>
            </a:extLst>
          </p:cNvPr>
          <p:cNvCxnSpPr>
            <a:cxnSpLocks/>
          </p:cNvCxnSpPr>
          <p:nvPr/>
        </p:nvCxnSpPr>
        <p:spPr>
          <a:xfrm flipH="1">
            <a:off x="6163056" y="2240280"/>
            <a:ext cx="749808" cy="555592"/>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47122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7F41DBD-A850-454B-8AF4-D363A5A45EB2}"/>
              </a:ext>
            </a:extLst>
          </p:cNvPr>
          <p:cNvSpPr txBox="1">
            <a:spLocks/>
          </p:cNvSpPr>
          <p:nvPr/>
        </p:nvSpPr>
        <p:spPr>
          <a:xfrm>
            <a:off x="342660" y="205895"/>
            <a:ext cx="7886700" cy="5933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H" sz="2800" b="1" dirty="0">
                <a:solidFill>
                  <a:schemeClr val="tx2">
                    <a:lumMod val="60000"/>
                    <a:lumOff val="40000"/>
                  </a:schemeClr>
                </a:solidFill>
                <a:latin typeface="Bodoni MT" panose="020F0502020204030204" pitchFamily="34" charset="0"/>
              </a:rPr>
              <a:t>L’EVALUATION DU PROJET</a:t>
            </a:r>
          </a:p>
        </p:txBody>
      </p:sp>
      <p:sp>
        <p:nvSpPr>
          <p:cNvPr id="4" name="TextBox 3">
            <a:extLst>
              <a:ext uri="{FF2B5EF4-FFF2-40B4-BE49-F238E27FC236}">
                <a16:creationId xmlns:a16="http://schemas.microsoft.com/office/drawing/2014/main" id="{5023DD9E-815F-DD4D-9D44-A97F0AC4F7C7}"/>
              </a:ext>
            </a:extLst>
          </p:cNvPr>
          <p:cNvSpPr txBox="1"/>
          <p:nvPr/>
        </p:nvSpPr>
        <p:spPr>
          <a:xfrm>
            <a:off x="342660" y="780849"/>
            <a:ext cx="6314618" cy="338554"/>
          </a:xfrm>
          <a:prstGeom prst="rect">
            <a:avLst/>
          </a:prstGeom>
          <a:noFill/>
        </p:spPr>
        <p:txBody>
          <a:bodyPr wrap="square" rtlCol="0">
            <a:spAutoFit/>
          </a:bodyPr>
          <a:lstStyle/>
          <a:p>
            <a:r>
              <a:rPr lang="en-GH" sz="1600" dirty="0">
                <a:latin typeface="Cavolini" panose="03000502040302020204" pitchFamily="66" charset="0"/>
                <a:cs typeface="Cavolini" panose="03000502040302020204" pitchFamily="66" charset="0"/>
              </a:rPr>
              <a:t>Planfier et conduire les evaluations du Projet</a:t>
            </a:r>
          </a:p>
        </p:txBody>
      </p:sp>
      <p:pic>
        <p:nvPicPr>
          <p:cNvPr id="5" name="Picture 4" descr="Graphical user interface, text, application, email&#10;&#10;Description automatically generated">
            <a:extLst>
              <a:ext uri="{FF2B5EF4-FFF2-40B4-BE49-F238E27FC236}">
                <a16:creationId xmlns:a16="http://schemas.microsoft.com/office/drawing/2014/main" id="{8B9B0146-7B08-0446-9421-3AE7FED619CD}"/>
              </a:ext>
            </a:extLst>
          </p:cNvPr>
          <p:cNvPicPr>
            <a:picLocks noChangeAspect="1"/>
          </p:cNvPicPr>
          <p:nvPr/>
        </p:nvPicPr>
        <p:blipFill>
          <a:blip r:embed="rId2"/>
          <a:stretch>
            <a:fillRect/>
          </a:stretch>
        </p:blipFill>
        <p:spPr>
          <a:xfrm>
            <a:off x="3364567" y="2898274"/>
            <a:ext cx="5377543" cy="3027992"/>
          </a:xfrm>
          <a:prstGeom prst="rect">
            <a:avLst/>
          </a:prstGeom>
        </p:spPr>
      </p:pic>
      <p:pic>
        <p:nvPicPr>
          <p:cNvPr id="8" name="Picture 7" descr="Graphical user interface, application&#10;&#10;Description automatically generated with medium confidence">
            <a:extLst>
              <a:ext uri="{FF2B5EF4-FFF2-40B4-BE49-F238E27FC236}">
                <a16:creationId xmlns:a16="http://schemas.microsoft.com/office/drawing/2014/main" id="{9CA7D4A3-48FC-9948-A272-6D4D0C2A8FB2}"/>
              </a:ext>
            </a:extLst>
          </p:cNvPr>
          <p:cNvPicPr>
            <a:picLocks noChangeAspect="1"/>
          </p:cNvPicPr>
          <p:nvPr/>
        </p:nvPicPr>
        <p:blipFill>
          <a:blip r:embed="rId3"/>
          <a:stretch>
            <a:fillRect/>
          </a:stretch>
        </p:blipFill>
        <p:spPr>
          <a:xfrm>
            <a:off x="342660" y="1236147"/>
            <a:ext cx="7347444" cy="1545383"/>
          </a:xfrm>
          <a:prstGeom prst="rect">
            <a:avLst/>
          </a:prstGeom>
        </p:spPr>
      </p:pic>
    </p:spTree>
    <p:extLst>
      <p:ext uri="{BB962C8B-B14F-4D97-AF65-F5344CB8AC3E}">
        <p14:creationId xmlns:p14="http://schemas.microsoft.com/office/powerpoint/2010/main" val="40397940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0000"/>
            <a:lum/>
          </a:blip>
          <a:srcRect/>
          <a:stretch>
            <a:fillRect l="-25000" r="-25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3FF1B-B8B5-EB49-8942-3EDE44D04C1A}"/>
              </a:ext>
            </a:extLst>
          </p:cNvPr>
          <p:cNvSpPr>
            <a:spLocks noGrp="1"/>
          </p:cNvSpPr>
          <p:nvPr>
            <p:ph type="ctrTitle"/>
          </p:nvPr>
        </p:nvSpPr>
        <p:spPr>
          <a:xfrm>
            <a:off x="342451" y="2224648"/>
            <a:ext cx="7945381" cy="1204352"/>
          </a:xfrm>
        </p:spPr>
        <p:txBody>
          <a:bodyPr>
            <a:normAutofit/>
          </a:bodyPr>
          <a:lstStyle/>
          <a:p>
            <a:r>
              <a:rPr lang="en-GH" sz="4000" b="1" dirty="0">
                <a:latin typeface="+mn-lt"/>
              </a:rPr>
              <a:t>MERCI DE VOTRE ATTENTION</a:t>
            </a:r>
          </a:p>
        </p:txBody>
      </p:sp>
      <p:sp>
        <p:nvSpPr>
          <p:cNvPr id="4" name="TextBox 3">
            <a:extLst>
              <a:ext uri="{FF2B5EF4-FFF2-40B4-BE49-F238E27FC236}">
                <a16:creationId xmlns:a16="http://schemas.microsoft.com/office/drawing/2014/main" id="{4DDE405E-0E0A-2246-8A7F-5EE5E09AE5AD}"/>
              </a:ext>
            </a:extLst>
          </p:cNvPr>
          <p:cNvSpPr txBox="1"/>
          <p:nvPr/>
        </p:nvSpPr>
        <p:spPr>
          <a:xfrm>
            <a:off x="5236029" y="5912156"/>
            <a:ext cx="3562892" cy="646331"/>
          </a:xfrm>
          <a:prstGeom prst="rect">
            <a:avLst/>
          </a:prstGeom>
          <a:solidFill>
            <a:schemeClr val="bg1">
              <a:lumMod val="95000"/>
              <a:alpha val="38000"/>
            </a:schemeClr>
          </a:solidFill>
        </p:spPr>
        <p:txBody>
          <a:bodyPr wrap="square" rtlCol="0">
            <a:spAutoFit/>
          </a:bodyPr>
          <a:lstStyle/>
          <a:p>
            <a:r>
              <a:rPr lang="en-GH" sz="1400" b="1" dirty="0"/>
              <a:t>CISSE Lamine</a:t>
            </a:r>
          </a:p>
          <a:p>
            <a:r>
              <a:rPr lang="en-GH" sz="1100" b="1" i="1" dirty="0"/>
              <a:t>Expert en Suivi et Evaluation et Management de Projet</a:t>
            </a:r>
          </a:p>
          <a:p>
            <a:r>
              <a:rPr lang="en-GB" sz="1100" b="1" i="1" dirty="0">
                <a:solidFill>
                  <a:srgbClr val="FF0000"/>
                </a:solidFill>
                <a:hlinkClick r:id="rId3"/>
              </a:rPr>
              <a:t>L</a:t>
            </a:r>
            <a:r>
              <a:rPr lang="en-GH" sz="1100" b="1" i="1" dirty="0">
                <a:solidFill>
                  <a:srgbClr val="FF0000"/>
                </a:solidFill>
                <a:hlinkClick r:id="rId3"/>
              </a:rPr>
              <a:t>amine.cisse@datadevafrica.com</a:t>
            </a:r>
            <a:r>
              <a:rPr lang="en-GH" sz="1100" b="1" i="1" dirty="0">
                <a:solidFill>
                  <a:srgbClr val="FF0000"/>
                </a:solidFill>
              </a:rPr>
              <a:t> </a:t>
            </a:r>
          </a:p>
        </p:txBody>
      </p:sp>
      <p:pic>
        <p:nvPicPr>
          <p:cNvPr id="6" name="Picture 5" descr="Logo&#10;&#10;Description automatically generated">
            <a:extLst>
              <a:ext uri="{FF2B5EF4-FFF2-40B4-BE49-F238E27FC236}">
                <a16:creationId xmlns:a16="http://schemas.microsoft.com/office/drawing/2014/main" id="{BC480613-AC7D-8F4B-B693-E07BB316C7BC}"/>
              </a:ext>
            </a:extLst>
          </p:cNvPr>
          <p:cNvPicPr>
            <a:picLocks noChangeAspect="1"/>
          </p:cNvPicPr>
          <p:nvPr/>
        </p:nvPicPr>
        <p:blipFill>
          <a:blip r:embed="rId4"/>
          <a:stretch>
            <a:fillRect/>
          </a:stretch>
        </p:blipFill>
        <p:spPr>
          <a:xfrm>
            <a:off x="342451" y="4381218"/>
            <a:ext cx="1567805" cy="1254244"/>
          </a:xfrm>
          <a:prstGeom prst="rect">
            <a:avLst/>
          </a:prstGeom>
        </p:spPr>
      </p:pic>
      <p:sp>
        <p:nvSpPr>
          <p:cNvPr id="3" name="TextBox 2">
            <a:extLst>
              <a:ext uri="{FF2B5EF4-FFF2-40B4-BE49-F238E27FC236}">
                <a16:creationId xmlns:a16="http://schemas.microsoft.com/office/drawing/2014/main" id="{AD792133-FFFA-D641-9F50-B7211A4D9544}"/>
              </a:ext>
            </a:extLst>
          </p:cNvPr>
          <p:cNvSpPr txBox="1"/>
          <p:nvPr/>
        </p:nvSpPr>
        <p:spPr>
          <a:xfrm>
            <a:off x="345079" y="5727490"/>
            <a:ext cx="3135086" cy="830997"/>
          </a:xfrm>
          <a:prstGeom prst="rect">
            <a:avLst/>
          </a:prstGeom>
          <a:solidFill>
            <a:schemeClr val="bg1">
              <a:lumMod val="85000"/>
              <a:alpha val="31000"/>
            </a:schemeClr>
          </a:solidFill>
        </p:spPr>
        <p:txBody>
          <a:bodyPr wrap="square" rtlCol="0">
            <a:spAutoFit/>
          </a:bodyPr>
          <a:lstStyle/>
          <a:p>
            <a:r>
              <a:rPr lang="en-GH" sz="1600" b="1" dirty="0">
                <a:solidFill>
                  <a:schemeClr val="accent2">
                    <a:lumMod val="75000"/>
                  </a:schemeClr>
                </a:solidFill>
              </a:rPr>
              <a:t>DataDevAfrica Consulting</a:t>
            </a:r>
          </a:p>
          <a:p>
            <a:r>
              <a:rPr lang="en-GH" sz="1600" b="1" dirty="0"/>
              <a:t>Datadevafrica.com </a:t>
            </a:r>
          </a:p>
          <a:p>
            <a:r>
              <a:rPr lang="en-GH" sz="1600" b="1" dirty="0"/>
              <a:t>info@datadevafrica.com  </a:t>
            </a:r>
          </a:p>
        </p:txBody>
      </p:sp>
    </p:spTree>
    <p:extLst>
      <p:ext uri="{BB962C8B-B14F-4D97-AF65-F5344CB8AC3E}">
        <p14:creationId xmlns:p14="http://schemas.microsoft.com/office/powerpoint/2010/main" val="72954003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{86A86E6C-D59B-D54A-84E3-D021DC661DB6}tf10001060</Template>
  <TotalTime>754768</TotalTime>
  <Words>1206</Words>
  <Application>Microsoft Macintosh PowerPoint</Application>
  <PresentationFormat>On-screen Show (4:3)</PresentationFormat>
  <Paragraphs>172</Paragraphs>
  <Slides>52</Slides>
  <Notes>4</Notes>
  <HiddenSlides>3</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52</vt:i4>
      </vt:variant>
    </vt:vector>
  </HeadingPairs>
  <TitlesOfParts>
    <vt:vector size="64" baseType="lpstr">
      <vt:lpstr>Arial</vt:lpstr>
      <vt:lpstr>Bodoni MT</vt:lpstr>
      <vt:lpstr>Book Antiqua</vt:lpstr>
      <vt:lpstr>Calibri</vt:lpstr>
      <vt:lpstr>Calibri Light</vt:lpstr>
      <vt:lpstr>Cavolini</vt:lpstr>
      <vt:lpstr>Muli</vt:lpstr>
      <vt:lpstr>Trebuchet MS</vt:lpstr>
      <vt:lpstr>Wingdings</vt:lpstr>
      <vt:lpstr>Wingdings 3</vt:lpstr>
      <vt:lpstr>Facet</vt:lpstr>
      <vt:lpstr>Office Theme</vt:lpstr>
      <vt:lpstr>ETABLISSEMENT D’UNE PLATEFORME ELECTRONIQUE DE SUIVI ET EVALUATION</vt:lpstr>
      <vt:lpstr>PowerPoint Presentation</vt:lpstr>
      <vt:lpstr>PowerPoint Presentation</vt:lpstr>
      <vt:lpstr>PowerPoint Presentation</vt:lpstr>
      <vt:lpstr>Contenu</vt:lpstr>
      <vt:lpstr>CADRE GENERAL</vt:lpstr>
      <vt:lpstr>CADRE GENERAL</vt:lpstr>
      <vt:lpstr>TABLEAU DE BORD (DASHBOARD)</vt:lpstr>
      <vt:lpstr>TABLEAU DE BORD (DASHBOARD) PROJETS</vt:lpstr>
      <vt:lpstr>CADRE GENERAL</vt:lpstr>
      <vt:lpstr>LES INDICATEURS</vt:lpstr>
      <vt:lpstr>LES INDICATEURS</vt:lpstr>
      <vt:lpstr>LES INDICATEURS</vt:lpstr>
      <vt:lpstr>LA DOCUMENTATION DE L’INSTITUTION</vt:lpstr>
      <vt:lpstr>LA DOCUMENTATION DE L’INSTITUTION</vt:lpstr>
      <vt:lpstr>PARAMETRER LE SYSTEME</vt:lpstr>
      <vt:lpstr>PARAMETRER LE SYSTEME</vt:lpstr>
      <vt:lpstr>PARAMETRER LE SYSTEME</vt:lpstr>
      <vt:lpstr>PARAMETRER LE SYSTEME</vt:lpstr>
      <vt:lpstr>PARAMETRER LE SYSTEME</vt:lpstr>
      <vt:lpstr>PARAMETRER LE SYSTEME</vt:lpstr>
      <vt:lpstr>PARAMETRER LE SYSTEME</vt:lpstr>
      <vt:lpstr>PARAMETRER LE SYSTEME</vt:lpstr>
      <vt:lpstr>PARAMETRER LE SYSTEME</vt:lpstr>
      <vt:lpstr>PARAMETRER LE SYSTEME</vt:lpstr>
      <vt:lpstr>PARAMETRER LE SYSTEME</vt:lpstr>
      <vt:lpstr>PARAMETRER LE SYSTEME</vt:lpstr>
      <vt:lpstr>IDENTIFICATION DES UTILISATEURS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MERCI DE VOTRE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ETABLISSEMENT D’UNE PLATEFORME ELECTRONIQUE DE SUIVI ET EVALUATION</dc:title>
  <dc:creator>Lamine CISSE</dc:creator>
  <cp:lastModifiedBy>Lamine CISSE</cp:lastModifiedBy>
  <cp:revision>58</cp:revision>
  <dcterms:created xsi:type="dcterms:W3CDTF">2021-06-06T05:23:26Z</dcterms:created>
  <dcterms:modified xsi:type="dcterms:W3CDTF">2021-06-15T00:02:23Z</dcterms:modified>
</cp:coreProperties>
</file>